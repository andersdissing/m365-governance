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mailto:dissing@sharepointkonsulenterne.dk"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2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rot="2700000">
            <a:off x="11368735" y="685800"/>
            <a:ext cx="822960" cy="822960"/>
          </a:xfrm>
          <a:prstGeom prst="rect">
            <a:avLst/>
          </a:prstGeom>
          <a:solidFill>
            <a:srgbClr val="0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rot="2700000">
            <a:off x="10362895" y="6309360"/>
            <a:ext cx="685800" cy="685800"/>
          </a:xfrm>
          <a:prstGeom prst="rect">
            <a:avLst/>
          </a:prstGeom>
          <a:solidFill>
            <a:srgbClr val="9F4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640080"/>
            <a:ext cx="475488" cy="369824"/>
          </a:xfrm>
          <a:prstGeom prst="roundRect">
            <a:avLst>
              <a:gd name="adj" fmla="val 2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822960" y="1009904"/>
            <a:ext cx="105664" cy="105664"/>
          </a:xfrm>
          <a:custGeom>
            <a:avLst/>
            <a:gdLst/>
            <a:ahLst/>
            <a:cxnLst/>
            <a:rect l="l" t="t" r="r" b="b"/>
            <a:pathLst>
              <a:path w="105664" h="105664">
                <a:moveTo>
                  <a:pt x="0" y="0"/>
                </a:moveTo>
                <a:lnTo>
                  <a:pt x="105664" y="0"/>
                </a:lnTo>
                <a:lnTo>
                  <a:pt x="0" y="105664"/>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28624" y="772160"/>
            <a:ext cx="92456" cy="92456"/>
          </a:xfrm>
          <a:prstGeom prst="rect">
            <a:avLst/>
          </a:prstGeom>
          <a:solidFill>
            <a:srgbClr val="5658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87120" y="772160"/>
            <a:ext cx="92456" cy="92456"/>
          </a:xfrm>
          <a:prstGeom prst="rect">
            <a:avLst/>
          </a:prstGeom>
          <a:solidFill>
            <a:srgbClr val="0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44752" y="603504"/>
            <a:ext cx="5486400" cy="548640"/>
          </a:xfrm>
          <a:prstGeom prst="rect">
            <a:avLst/>
          </a:prstGeom>
          <a:noFill/>
        </p:spPr>
        <p:txBody>
          <a:bodyPr wrap="square" anchor="t" lIns="0" rIns="0" tIns="0" bIns="0">
            <a:spAutoFit/>
          </a:bodyPr>
          <a:lstStyle/>
          <a:p>
            <a:pPr algn="l"/>
            <a:r>
              <a:rPr sz="1800" b="1">
                <a:solidFill>
                  <a:srgbClr val="FFFFFF"/>
                </a:solidFill>
                <a:latin typeface="Barlow Condensed"/>
              </a:rPr>
              <a:t>Governance  </a:t>
            </a:r>
            <a:r>
              <a:rPr sz="1800" b="0">
                <a:solidFill>
                  <a:srgbClr val="C8CBE8"/>
                </a:solidFill>
                <a:latin typeface="Barlow Condensed"/>
              </a:rPr>
              <a:t>for Microsoft 365</a:t>
            </a:r>
          </a:p>
        </p:txBody>
      </p:sp>
      <p:sp>
        <p:nvSpPr>
          <p:cNvPr id="10" name="TextBox 9"/>
          <p:cNvSpPr txBox="1"/>
          <p:nvPr/>
        </p:nvSpPr>
        <p:spPr>
          <a:xfrm>
            <a:off x="822960" y="1737360"/>
            <a:ext cx="6400800" cy="320040"/>
          </a:xfrm>
          <a:prstGeom prst="rect">
            <a:avLst/>
          </a:prstGeom>
          <a:noFill/>
        </p:spPr>
        <p:txBody>
          <a:bodyPr wrap="square" anchor="t" lIns="0" rIns="0" tIns="0" bIns="0">
            <a:spAutoFit/>
          </a:bodyPr>
          <a:lstStyle/>
          <a:p>
            <a:pPr algn="l"/>
            <a:r>
              <a:rPr sz="1350" b="1" spc="180">
                <a:solidFill>
                  <a:srgbClr val="C4C9FC"/>
                </a:solidFill>
                <a:latin typeface="Barlow Condensed"/>
              </a:rPr>
              <a:t>SHARING AND GUEST ACCESS · MICROSOFT 365</a:t>
            </a:r>
          </a:p>
        </p:txBody>
      </p:sp>
      <p:sp>
        <p:nvSpPr>
          <p:cNvPr id="11" name="TextBox 10"/>
          <p:cNvSpPr txBox="1"/>
          <p:nvPr/>
        </p:nvSpPr>
        <p:spPr>
          <a:xfrm>
            <a:off x="822960" y="2148840"/>
            <a:ext cx="6035040" cy="2194560"/>
          </a:xfrm>
          <a:prstGeom prst="rect">
            <a:avLst/>
          </a:prstGeom>
          <a:noFill/>
        </p:spPr>
        <p:txBody>
          <a:bodyPr wrap="square" anchor="t" lIns="0" rIns="0" tIns="0" bIns="0">
            <a:spAutoFit/>
          </a:bodyPr>
          <a:lstStyle/>
          <a:p>
            <a:pPr algn="l">
              <a:lnSpc>
                <a:spcPct val="98000"/>
              </a:lnSpc>
            </a:pPr>
            <a:r>
              <a:rPr sz="4400" b="1">
                <a:solidFill>
                  <a:srgbClr val="FFFFFF"/>
                </a:solidFill>
                <a:latin typeface="Barlow Condensed"/>
              </a:rPr>
              <a:t>Every share in your tenant was a decision somebody made.</a:t>
            </a:r>
          </a:p>
        </p:txBody>
      </p:sp>
      <p:sp>
        <p:nvSpPr>
          <p:cNvPr id="12" name="TextBox 11"/>
          <p:cNvSpPr txBox="1"/>
          <p:nvPr/>
        </p:nvSpPr>
        <p:spPr>
          <a:xfrm>
            <a:off x="822960" y="3977639"/>
            <a:ext cx="6035040" cy="640080"/>
          </a:xfrm>
          <a:prstGeom prst="rect">
            <a:avLst/>
          </a:prstGeom>
          <a:noFill/>
        </p:spPr>
        <p:txBody>
          <a:bodyPr wrap="square" anchor="t" lIns="0" rIns="0" tIns="0" bIns="0">
            <a:spAutoFit/>
          </a:bodyPr>
          <a:lstStyle/>
          <a:p>
            <a:pPr algn="l"/>
            <a:r>
              <a:rPr sz="2500" b="1">
                <a:solidFill>
                  <a:srgbClr val="7FE0C7"/>
                </a:solidFill>
                <a:latin typeface="Barlow Condensed"/>
              </a:rPr>
              <a:t>Now somebody is asked whether it still holds.</a:t>
            </a:r>
          </a:p>
        </p:txBody>
      </p:sp>
      <p:sp>
        <p:nvSpPr>
          <p:cNvPr id="13" name="TextBox 12"/>
          <p:cNvSpPr txBox="1"/>
          <p:nvPr/>
        </p:nvSpPr>
        <p:spPr>
          <a:xfrm>
            <a:off x="822960" y="4709160"/>
            <a:ext cx="5852160" cy="1463040"/>
          </a:xfrm>
          <a:prstGeom prst="rect">
            <a:avLst/>
          </a:prstGeom>
          <a:noFill/>
        </p:spPr>
        <p:txBody>
          <a:bodyPr wrap="square" anchor="t" lIns="0" rIns="0" tIns="0" bIns="0">
            <a:spAutoFit/>
          </a:bodyPr>
          <a:lstStyle/>
          <a:p>
            <a:pPr algn="l">
              <a:lnSpc>
                <a:spcPct val="130000"/>
              </a:lnSpc>
            </a:pPr>
            <a:r>
              <a:rPr sz="1450" b="0">
                <a:solidFill>
                  <a:srgbClr val="DADDEF"/>
                </a:solidFill>
                <a:latin typeface="Figtree"/>
              </a:rPr>
              <a:t>Nothing is locked down, nothing is blocked, and nobody is retrained. The people who made each sharing decision are asked, later and in Teams — and their answers become your record.</a:t>
            </a:r>
          </a:p>
        </p:txBody>
      </p:sp>
      <p:pic>
        <p:nvPicPr>
          <p:cNvPr id="14" name="Picture 13" descr="10-bot-card-guest-still-needed.png"/>
          <p:cNvPicPr>
            <a:picLocks noChangeAspect="1"/>
          </p:cNvPicPr>
          <p:nvPr/>
        </p:nvPicPr>
        <p:blipFill>
          <a:blip r:embed="rId2"/>
          <a:stretch>
            <a:fillRect/>
          </a:stretch>
        </p:blipFill>
        <p:spPr>
          <a:xfrm>
            <a:off x="7516368" y="2924113"/>
            <a:ext cx="3803904" cy="918333"/>
          </a:xfrm>
          <a:prstGeom prst="rect">
            <a:avLst/>
          </a:prstGeom>
        </p:spPr>
      </p:pic>
      <p:sp>
        <p:nvSpPr>
          <p:cNvPr id="15" name="Rectangle 14"/>
          <p:cNvSpPr/>
          <p:nvPr/>
        </p:nvSpPr>
        <p:spPr>
          <a:xfrm>
            <a:off x="7424928" y="2832673"/>
            <a:ext cx="3986784" cy="1101213"/>
          </a:xfrm>
          <a:prstGeom prst="rect">
            <a:avLst/>
          </a:prstGeom>
          <a:noFill/>
          <a:ln w="15875">
            <a:solidFill>
              <a:srgbClr val="7FE0C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24928" y="2832673"/>
            <a:ext cx="155448" cy="25603"/>
          </a:xfrm>
          <a:prstGeom prst="rect">
            <a:avLst/>
          </a:prstGeom>
          <a:solidFill>
            <a:srgbClr val="7FE0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24928" y="2832673"/>
            <a:ext cx="25603" cy="155448"/>
          </a:xfrm>
          <a:prstGeom prst="rect">
            <a:avLst/>
          </a:prstGeom>
          <a:solidFill>
            <a:srgbClr val="7FE0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256264" y="2832673"/>
            <a:ext cx="155448" cy="25603"/>
          </a:xfrm>
          <a:prstGeom prst="rect">
            <a:avLst/>
          </a:prstGeom>
          <a:solidFill>
            <a:srgbClr val="7FE0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386109" y="2832673"/>
            <a:ext cx="25603" cy="155448"/>
          </a:xfrm>
          <a:prstGeom prst="rect">
            <a:avLst/>
          </a:prstGeom>
          <a:solidFill>
            <a:srgbClr val="7FE0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424928" y="3908283"/>
            <a:ext cx="155448" cy="25603"/>
          </a:xfrm>
          <a:prstGeom prst="rect">
            <a:avLst/>
          </a:prstGeom>
          <a:solidFill>
            <a:srgbClr val="7FE0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24928" y="3778438"/>
            <a:ext cx="25603" cy="155448"/>
          </a:xfrm>
          <a:prstGeom prst="rect">
            <a:avLst/>
          </a:prstGeom>
          <a:solidFill>
            <a:srgbClr val="7FE0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1256264" y="3908283"/>
            <a:ext cx="155448" cy="25603"/>
          </a:xfrm>
          <a:prstGeom prst="rect">
            <a:avLst/>
          </a:prstGeom>
          <a:solidFill>
            <a:srgbClr val="7FE0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386109" y="3778438"/>
            <a:ext cx="25603" cy="155448"/>
          </a:xfrm>
          <a:prstGeom prst="rect">
            <a:avLst/>
          </a:prstGeom>
          <a:solidFill>
            <a:srgbClr val="7FE0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06640" y="5257800"/>
            <a:ext cx="4023360" cy="548640"/>
          </a:xfrm>
          <a:prstGeom prst="rect">
            <a:avLst/>
          </a:prstGeom>
          <a:noFill/>
        </p:spPr>
        <p:txBody>
          <a:bodyPr wrap="square" anchor="t" lIns="0" rIns="0" tIns="0" bIns="0">
            <a:spAutoFit/>
          </a:bodyPr>
          <a:lstStyle/>
          <a:p>
            <a:pPr algn="l"/>
            <a:r>
              <a:rPr sz="1100" b="1">
                <a:solidFill>
                  <a:srgbClr val="7FE0C7"/>
                </a:solidFill>
                <a:latin typeface="Barlow Condensed"/>
              </a:rPr>
              <a:t>FIG. 01   </a:t>
            </a:r>
            <a:r>
              <a:rPr sz="1100" b="0">
                <a:solidFill>
                  <a:srgbClr val="C8CBE8"/>
                </a:solidFill>
                <a:latin typeface="Barlow Condensed"/>
              </a:rPr>
              <a:t>The question, as it arrives in Teams. One click, and the answer is recorded.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320040"/>
          </a:xfrm>
          <a:prstGeom prst="rect">
            <a:avLst/>
          </a:prstGeom>
          <a:noFill/>
        </p:spPr>
        <p:txBody>
          <a:bodyPr wrap="square" anchor="t" lIns="0" rIns="0" tIns="0" bIns="0">
            <a:spAutoFit/>
          </a:bodyPr>
          <a:lstStyle/>
          <a:p>
            <a:pPr algn="l"/>
            <a:r>
              <a:rPr sz="1350" b="1" spc="180">
                <a:solidFill>
                  <a:srgbClr val="9F422B"/>
                </a:solidFill>
                <a:latin typeface="Barlow Condensed"/>
              </a:rPr>
              <a:t>01 · ACCESS OUTLIVES ITS REASON</a:t>
            </a:r>
          </a:p>
        </p:txBody>
      </p:sp>
      <p:sp>
        <p:nvSpPr>
          <p:cNvPr id="4" name="TextBox 3"/>
          <p:cNvSpPr txBox="1"/>
          <p:nvPr/>
        </p:nvSpPr>
        <p:spPr>
          <a:xfrm>
            <a:off x="822960" y="914400"/>
            <a:ext cx="6583680" cy="1280160"/>
          </a:xfrm>
          <a:prstGeom prst="rect">
            <a:avLst/>
          </a:prstGeom>
          <a:noFill/>
        </p:spPr>
        <p:txBody>
          <a:bodyPr wrap="square" anchor="t" lIns="0" rIns="0" tIns="0" bIns="0">
            <a:spAutoFit/>
          </a:bodyPr>
          <a:lstStyle/>
          <a:p>
            <a:pPr algn="l">
              <a:lnSpc>
                <a:spcPct val="100000"/>
              </a:lnSpc>
            </a:pPr>
            <a:r>
              <a:rPr sz="3300" b="1">
                <a:solidFill>
                  <a:srgbClr val="1D1F20"/>
                </a:solidFill>
                <a:latin typeface="Barlow Condensed"/>
              </a:rPr>
              <a:t>Internal oversharing used to need somebody to go looking.</a:t>
            </a:r>
          </a:p>
          <a:p>
            <a:pPr algn="l">
              <a:spcBef>
                <a:spcPts val="600"/>
              </a:spcBef>
            </a:pPr>
            <a:r>
              <a:rPr sz="2200" b="1">
                <a:solidFill>
                  <a:srgbClr val="474698"/>
                </a:solidFill>
                <a:latin typeface="Barlow Condensed"/>
              </a:rPr>
              <a:t>Now it only needs somebody to ask.</a:t>
            </a:r>
          </a:p>
        </p:txBody>
      </p:sp>
      <p:sp>
        <p:nvSpPr>
          <p:cNvPr id="5" name="TextBox 4"/>
          <p:cNvSpPr txBox="1"/>
          <p:nvPr/>
        </p:nvSpPr>
        <p:spPr>
          <a:xfrm>
            <a:off x="7498079" y="960120"/>
            <a:ext cx="3886200" cy="1920240"/>
          </a:xfrm>
          <a:prstGeom prst="rect">
            <a:avLst/>
          </a:prstGeom>
          <a:noFill/>
        </p:spPr>
        <p:txBody>
          <a:bodyPr wrap="square" anchor="t" lIns="0" rIns="0" tIns="0" bIns="0">
            <a:spAutoFit/>
          </a:bodyPr>
          <a:lstStyle/>
          <a:p>
            <a:pPr algn="l">
              <a:lnSpc>
                <a:spcPct val="130000"/>
              </a:lnSpc>
            </a:pPr>
            <a:r>
              <a:rPr sz="1300" b="0">
                <a:solidFill>
                  <a:srgbClr val="5D5D60"/>
                </a:solidFill>
                <a:latin typeface="Figtree"/>
              </a:rPr>
              <a:t>Sharing in Microsoft 365 takes one click. Remembering why, and asking later whether it still stands, takes something Microsoft 365 does not have. The gap opens in two directions, and most organisations have both.</a:t>
            </a:r>
          </a:p>
        </p:txBody>
      </p:sp>
      <p:sp>
        <p:nvSpPr>
          <p:cNvPr id="6" name="Rounded Rectangle 5"/>
          <p:cNvSpPr/>
          <p:nvPr/>
        </p:nvSpPr>
        <p:spPr>
          <a:xfrm>
            <a:off x="822960" y="2834640"/>
            <a:ext cx="3331464" cy="2468880"/>
          </a:xfrm>
          <a:prstGeom prst="roundRect">
            <a:avLst>
              <a:gd name="adj" fmla="val 7000"/>
            </a:avLst>
          </a:prstGeom>
          <a:solidFill>
            <a:srgbClr val="FFEA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3063240"/>
            <a:ext cx="2819400" cy="2011680"/>
          </a:xfrm>
          <a:prstGeom prst="rect">
            <a:avLst/>
          </a:prstGeom>
          <a:noFill/>
        </p:spPr>
        <p:txBody>
          <a:bodyPr wrap="square" anchor="t" lIns="0" rIns="0" tIns="0" bIns="0">
            <a:spAutoFit/>
          </a:bodyPr>
          <a:lstStyle/>
          <a:p>
            <a:pPr algn="l"/>
            <a:r>
              <a:rPr sz="1150" b="1" spc="120">
                <a:solidFill>
                  <a:srgbClr val="9F422B"/>
                </a:solidFill>
                <a:latin typeface="Barlow Condensed"/>
              </a:rPr>
              <a:t>A</a:t>
            </a:r>
          </a:p>
          <a:p>
            <a:pPr algn="l">
              <a:spcBef>
                <a:spcPts val="400"/>
              </a:spcBef>
            </a:pPr>
            <a:r>
              <a:rPr sz="5200" b="1">
                <a:solidFill>
                  <a:srgbClr val="9F422B"/>
                </a:solidFill>
                <a:latin typeface="Barlow Condensed"/>
              </a:rPr>
              <a:t>40%</a:t>
            </a:r>
          </a:p>
          <a:p>
            <a:pPr algn="l">
              <a:lnSpc>
                <a:spcPct val="125000"/>
              </a:lnSpc>
              <a:spcBef>
                <a:spcPts val="400"/>
              </a:spcBef>
            </a:pPr>
            <a:r>
              <a:rPr sz="1250" b="0">
                <a:solidFill>
                  <a:srgbClr val="424244"/>
                </a:solidFill>
                <a:latin typeface="Figtree"/>
              </a:rPr>
              <a:t>delayed their Copilot rollout by three months or more because of oversharing</a:t>
            </a:r>
          </a:p>
        </p:txBody>
      </p:sp>
      <p:sp>
        <p:nvSpPr>
          <p:cNvPr id="8" name="Rounded Rectangle 7"/>
          <p:cNvSpPr/>
          <p:nvPr/>
        </p:nvSpPr>
        <p:spPr>
          <a:xfrm>
            <a:off x="4428744" y="2834640"/>
            <a:ext cx="3331464" cy="2468880"/>
          </a:xfrm>
          <a:prstGeom prst="roundRect">
            <a:avLst>
              <a:gd name="adj" fmla="val 7000"/>
            </a:avLst>
          </a:prstGeom>
          <a:solidFill>
            <a:srgbClr val="E0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84776" y="3063240"/>
            <a:ext cx="2819400" cy="2011680"/>
          </a:xfrm>
          <a:prstGeom prst="rect">
            <a:avLst/>
          </a:prstGeom>
          <a:noFill/>
        </p:spPr>
        <p:txBody>
          <a:bodyPr wrap="square" anchor="t" lIns="0" rIns="0" tIns="0" bIns="0">
            <a:spAutoFit/>
          </a:bodyPr>
          <a:lstStyle/>
          <a:p>
            <a:pPr algn="l"/>
            <a:r>
              <a:rPr sz="1150" b="1" spc="120">
                <a:solidFill>
                  <a:srgbClr val="005694"/>
                </a:solidFill>
                <a:latin typeface="Barlow Condensed"/>
              </a:rPr>
              <a:t>B</a:t>
            </a:r>
          </a:p>
          <a:p>
            <a:pPr algn="l">
              <a:spcBef>
                <a:spcPts val="400"/>
              </a:spcBef>
            </a:pPr>
            <a:r>
              <a:rPr sz="5200" b="1">
                <a:solidFill>
                  <a:srgbClr val="005694"/>
                </a:solidFill>
                <a:latin typeface="Barlow Condensed"/>
              </a:rPr>
              <a:t>64%</a:t>
            </a:r>
          </a:p>
          <a:p>
            <a:pPr algn="l">
              <a:lnSpc>
                <a:spcPct val="125000"/>
              </a:lnSpc>
              <a:spcBef>
                <a:spcPts val="400"/>
              </a:spcBef>
            </a:pPr>
            <a:r>
              <a:rPr sz="1250" b="0">
                <a:solidFill>
                  <a:srgbClr val="424244"/>
                </a:solidFill>
                <a:latin typeface="Figtree"/>
              </a:rPr>
              <a:t>spent considerable time and resources on governance and security risk before they could deploy at all</a:t>
            </a:r>
          </a:p>
        </p:txBody>
      </p:sp>
      <p:sp>
        <p:nvSpPr>
          <p:cNvPr id="10" name="Rounded Rectangle 9"/>
          <p:cNvSpPr/>
          <p:nvPr/>
        </p:nvSpPr>
        <p:spPr>
          <a:xfrm>
            <a:off x="8034528" y="2834640"/>
            <a:ext cx="3331464" cy="2468880"/>
          </a:xfrm>
          <a:prstGeom prst="roundRect">
            <a:avLst>
              <a:gd name="adj" fmla="val 7000"/>
            </a:avLst>
          </a:prstGeom>
          <a:solidFill>
            <a:srgbClr val="5658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90560" y="3063240"/>
            <a:ext cx="2819400" cy="2011680"/>
          </a:xfrm>
          <a:prstGeom prst="rect">
            <a:avLst/>
          </a:prstGeom>
          <a:noFill/>
        </p:spPr>
        <p:txBody>
          <a:bodyPr wrap="square" anchor="t" lIns="0" rIns="0" tIns="0" bIns="0">
            <a:spAutoFit/>
          </a:bodyPr>
          <a:lstStyle/>
          <a:p>
            <a:pPr algn="l"/>
            <a:r>
              <a:rPr sz="1150" b="1" spc="120">
                <a:solidFill>
                  <a:srgbClr val="FFFFFF"/>
                </a:solidFill>
                <a:latin typeface="Barlow Condensed"/>
              </a:rPr>
              <a:t>C · A GUEST ACCOUNT, BY DEFAULT</a:t>
            </a:r>
          </a:p>
          <a:p>
            <a:pPr algn="l">
              <a:lnSpc>
                <a:spcPct val="105000"/>
              </a:lnSpc>
              <a:spcBef>
                <a:spcPts val="5000"/>
              </a:spcBef>
            </a:pPr>
            <a:r>
              <a:rPr sz="2400" b="1">
                <a:solidFill>
                  <a:srgbClr val="FFFFFF"/>
                </a:solidFill>
                <a:latin typeface="Barlow Condensed"/>
              </a:rPr>
              <a:t>No expiry. No inactivity alert. No cleanup.</a:t>
            </a:r>
          </a:p>
        </p:txBody>
      </p:sp>
      <p:sp>
        <p:nvSpPr>
          <p:cNvPr id="12" name="TextBox 11"/>
          <p:cNvSpPr txBox="1"/>
          <p:nvPr/>
        </p:nvSpPr>
        <p:spPr>
          <a:xfrm>
            <a:off x="822960" y="5486400"/>
            <a:ext cx="10515600" cy="274320"/>
          </a:xfrm>
          <a:prstGeom prst="rect">
            <a:avLst/>
          </a:prstGeom>
          <a:noFill/>
        </p:spPr>
        <p:txBody>
          <a:bodyPr wrap="square" anchor="t" lIns="0" rIns="0" tIns="0" bIns="0">
            <a:spAutoFit/>
          </a:bodyPr>
          <a:lstStyle/>
          <a:p>
            <a:pPr algn="l"/>
            <a:r>
              <a:rPr sz="1000" b="0">
                <a:solidFill>
                  <a:srgbClr val="5D5D60"/>
                </a:solidFill>
                <a:latin typeface="Figtree"/>
              </a:rPr>
              <a:t>A, B: Gartner survey of 132 IT leaders, June 2025.   C: how the platform works.</a:t>
            </a:r>
          </a:p>
        </p:txBody>
      </p:sp>
      <p:sp>
        <p:nvSpPr>
          <p:cNvPr id="13" name="TextBox 12"/>
          <p:cNvSpPr txBox="1"/>
          <p:nvPr/>
        </p:nvSpPr>
        <p:spPr>
          <a:xfrm>
            <a:off x="822960" y="5943600"/>
            <a:ext cx="10515600" cy="640080"/>
          </a:xfrm>
          <a:prstGeom prst="rect">
            <a:avLst/>
          </a:prstGeom>
          <a:noFill/>
        </p:spPr>
        <p:txBody>
          <a:bodyPr wrap="square" anchor="t" lIns="0" rIns="0" tIns="0" bIns="0">
            <a:spAutoFit/>
          </a:bodyPr>
          <a:lstStyle/>
          <a:p>
            <a:pPr algn="l"/>
            <a:r>
              <a:rPr sz="2000" b="1">
                <a:solidFill>
                  <a:srgbClr val="1D1F20"/>
                </a:solidFill>
                <a:latin typeface="Barlow Condensed"/>
              </a:rPr>
              <a:t>The person who granted the access is the only one who knows it should end.  </a:t>
            </a:r>
            <a:r>
              <a:rPr sz="2000" b="1">
                <a:solidFill>
                  <a:srgbClr val="474698"/>
                </a:solidFill>
                <a:latin typeface="Barlow Condensed"/>
              </a:rPr>
              <a:t>Nothing ever asks them.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320040"/>
          </a:xfrm>
          <a:prstGeom prst="rect">
            <a:avLst/>
          </a:prstGeom>
          <a:noFill/>
        </p:spPr>
        <p:txBody>
          <a:bodyPr wrap="square" anchor="t" lIns="0" rIns="0" tIns="0" bIns="0">
            <a:spAutoFit/>
          </a:bodyPr>
          <a:lstStyle/>
          <a:p>
            <a:pPr algn="l"/>
            <a:r>
              <a:rPr sz="1350" b="1" spc="180">
                <a:solidFill>
                  <a:srgbClr val="474698"/>
                </a:solidFill>
                <a:latin typeface="Barlow Condensed"/>
              </a:rPr>
              <a:t>THE GAP OPENS IN TWO DIRECTIONS</a:t>
            </a:r>
          </a:p>
        </p:txBody>
      </p:sp>
      <p:sp>
        <p:nvSpPr>
          <p:cNvPr id="4" name="TextBox 3"/>
          <p:cNvSpPr txBox="1"/>
          <p:nvPr/>
        </p:nvSpPr>
        <p:spPr>
          <a:xfrm>
            <a:off x="822960" y="914400"/>
            <a:ext cx="10515600" cy="822960"/>
          </a:xfrm>
          <a:prstGeom prst="rect">
            <a:avLst/>
          </a:prstGeom>
          <a:noFill/>
        </p:spPr>
        <p:txBody>
          <a:bodyPr wrap="square" anchor="t" lIns="0" rIns="0" tIns="0" bIns="0">
            <a:spAutoFit/>
          </a:bodyPr>
          <a:lstStyle/>
          <a:p>
            <a:pPr algn="l"/>
            <a:r>
              <a:rPr sz="3200" b="1">
                <a:solidFill>
                  <a:srgbClr val="1D1F20"/>
                </a:solidFill>
                <a:latin typeface="Barlow Condensed"/>
              </a:rPr>
              <a:t>It is rarely one folder — and it is rarely only inside.</a:t>
            </a:r>
          </a:p>
        </p:txBody>
      </p:sp>
      <p:sp>
        <p:nvSpPr>
          <p:cNvPr id="5" name="Rectangle 4"/>
          <p:cNvSpPr/>
          <p:nvPr/>
        </p:nvSpPr>
        <p:spPr>
          <a:xfrm>
            <a:off x="822960" y="1965960"/>
            <a:ext cx="457200" cy="82296"/>
          </a:xfrm>
          <a:prstGeom prst="rect">
            <a:avLst/>
          </a:prstGeom>
          <a:solidFill>
            <a:srgbClr val="0068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148840"/>
            <a:ext cx="5042916" cy="548640"/>
          </a:xfrm>
          <a:prstGeom prst="rect">
            <a:avLst/>
          </a:prstGeom>
          <a:noFill/>
        </p:spPr>
        <p:txBody>
          <a:bodyPr wrap="square" anchor="t" lIns="0" rIns="0" tIns="0" bIns="0">
            <a:spAutoFit/>
          </a:bodyPr>
          <a:lstStyle/>
          <a:p>
            <a:pPr algn="l"/>
            <a:r>
              <a:rPr sz="2200" b="1">
                <a:solidFill>
                  <a:srgbClr val="1D1F20"/>
                </a:solidFill>
                <a:latin typeface="Barlow Condensed"/>
              </a:rPr>
              <a:t>Inside the company</a:t>
            </a:r>
          </a:p>
        </p:txBody>
      </p:sp>
      <p:sp>
        <p:nvSpPr>
          <p:cNvPr id="7" name="TextBox 6"/>
          <p:cNvSpPr txBox="1"/>
          <p:nvPr/>
        </p:nvSpPr>
        <p:spPr>
          <a:xfrm>
            <a:off x="822960" y="2788920"/>
            <a:ext cx="5042916" cy="2743200"/>
          </a:xfrm>
          <a:prstGeom prst="rect">
            <a:avLst/>
          </a:prstGeom>
          <a:noFill/>
        </p:spPr>
        <p:txBody>
          <a:bodyPr wrap="square" anchor="t" lIns="0" rIns="0" tIns="0" bIns="0">
            <a:spAutoFit/>
          </a:bodyPr>
          <a:lstStyle/>
          <a:p>
            <a:pPr algn="l">
              <a:lnSpc>
                <a:spcPct val="132000"/>
              </a:lnSpc>
              <a:spcAft>
                <a:spcPts val="1000"/>
              </a:spcAft>
            </a:pPr>
            <a:r>
              <a:rPr sz="1400" b="0">
                <a:solidFill>
                  <a:srgbClr val="5D5D60"/>
                </a:solidFill>
                <a:latin typeface="Figtree"/>
              </a:rPr>
              <a:t>A folder gets shared with everyone in the organisation, because that was the quickest way to unblock one colleague on one afternoon. The link is still there. So is the folder.</a:t>
            </a:r>
          </a:p>
          <a:p>
            <a:pPr algn="l">
              <a:lnSpc>
                <a:spcPct val="132000"/>
              </a:lnSpc>
              <a:spcAft>
                <a:spcPts val="1000"/>
              </a:spcAft>
            </a:pPr>
            <a:r>
              <a:rPr sz="1400" b="0">
                <a:solidFill>
                  <a:srgbClr val="5D5D60"/>
                </a:solidFill>
                <a:latin typeface="Figtree"/>
              </a:rPr>
              <a:t>It is rarely one folder. “Everyone Except External Users” — the group that grants access to every employee you have — is the single largest source of it, and the default suggestion in several of SharePoint's own sharing dialogs.</a:t>
            </a:r>
          </a:p>
        </p:txBody>
      </p:sp>
      <p:sp>
        <p:nvSpPr>
          <p:cNvPr id="8" name="Rectangle 7"/>
          <p:cNvSpPr/>
          <p:nvPr/>
        </p:nvSpPr>
        <p:spPr>
          <a:xfrm>
            <a:off x="6323076" y="1965960"/>
            <a:ext cx="457200" cy="82296"/>
          </a:xfrm>
          <a:prstGeom prst="rect">
            <a:avLst/>
          </a:prstGeom>
          <a:solidFill>
            <a:srgbClr val="0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23076" y="2148840"/>
            <a:ext cx="5042916" cy="548640"/>
          </a:xfrm>
          <a:prstGeom prst="rect">
            <a:avLst/>
          </a:prstGeom>
          <a:noFill/>
        </p:spPr>
        <p:txBody>
          <a:bodyPr wrap="square" anchor="t" lIns="0" rIns="0" tIns="0" bIns="0">
            <a:spAutoFit/>
          </a:bodyPr>
          <a:lstStyle/>
          <a:p>
            <a:pPr algn="l"/>
            <a:r>
              <a:rPr sz="2200" b="1">
                <a:solidFill>
                  <a:srgbClr val="1D1F20"/>
                </a:solidFill>
                <a:latin typeface="Barlow Condensed"/>
              </a:rPr>
              <a:t>Outside the organisation</a:t>
            </a:r>
          </a:p>
        </p:txBody>
      </p:sp>
      <p:sp>
        <p:nvSpPr>
          <p:cNvPr id="10" name="TextBox 9"/>
          <p:cNvSpPr txBox="1"/>
          <p:nvPr/>
        </p:nvSpPr>
        <p:spPr>
          <a:xfrm>
            <a:off x="6323076" y="2788920"/>
            <a:ext cx="5042916" cy="2743200"/>
          </a:xfrm>
          <a:prstGeom prst="rect">
            <a:avLst/>
          </a:prstGeom>
          <a:noFill/>
        </p:spPr>
        <p:txBody>
          <a:bodyPr wrap="square" anchor="t" lIns="0" rIns="0" tIns="0" bIns="0">
            <a:spAutoFit/>
          </a:bodyPr>
          <a:lstStyle/>
          <a:p>
            <a:pPr algn="l">
              <a:lnSpc>
                <a:spcPct val="132000"/>
              </a:lnSpc>
              <a:spcAft>
                <a:spcPts val="1000"/>
              </a:spcAft>
            </a:pPr>
            <a:r>
              <a:rPr sz="1400" b="0">
                <a:solidFill>
                  <a:srgbClr val="5D5D60"/>
                </a:solidFill>
                <a:latin typeface="Figtree"/>
              </a:rPr>
              <a:t>An external user arrives the ordinary way: somebody shares a folder. From that moment, nothing records which internal person is responsible for them. The project ends. The person who shared moves on. The access doesn't.</a:t>
            </a:r>
          </a:p>
          <a:p>
            <a:pPr algn="l">
              <a:lnSpc>
                <a:spcPct val="132000"/>
              </a:lnSpc>
              <a:spcAft>
                <a:spcPts val="1000"/>
              </a:spcAft>
            </a:pPr>
            <a:r>
              <a:rPr sz="1400" b="0">
                <a:solidFill>
                  <a:srgbClr val="5D5D60"/>
                </a:solidFill>
                <a:latin typeface="Figtree"/>
              </a:rPr>
              <a:t>Organisations collaborating externally for a couple of years hold hundreds to thousands of guest accounts — some who signed in and stopped, some who never signed in at all.</a:t>
            </a:r>
          </a:p>
        </p:txBody>
      </p:sp>
      <p:sp>
        <p:nvSpPr>
          <p:cNvPr id="11" name="TextBox 10"/>
          <p:cNvSpPr txBox="1"/>
          <p:nvPr/>
        </p:nvSpPr>
        <p:spPr>
          <a:xfrm>
            <a:off x="822960" y="5943600"/>
            <a:ext cx="10515600" cy="640080"/>
          </a:xfrm>
          <a:prstGeom prst="rect">
            <a:avLst/>
          </a:prstGeom>
          <a:noFill/>
        </p:spPr>
        <p:txBody>
          <a:bodyPr wrap="square" anchor="t" lIns="0" rIns="0" tIns="0" bIns="0">
            <a:spAutoFit/>
          </a:bodyPr>
          <a:lstStyle/>
          <a:p>
            <a:pPr algn="l"/>
            <a:r>
              <a:rPr sz="2000" b="1">
                <a:solidFill>
                  <a:srgbClr val="1D1F20"/>
                </a:solidFill>
                <a:latin typeface="Barlow Condensed"/>
              </a:rPr>
              <a:t>The person who granted the access is the only one who knows it should end.  </a:t>
            </a:r>
            <a:r>
              <a:rPr sz="2000" b="1">
                <a:solidFill>
                  <a:srgbClr val="474698"/>
                </a:solidFill>
                <a:latin typeface="Barlow Condensed"/>
              </a:rPr>
              <a:t>Nothing ever asks them.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837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320040"/>
          </a:xfrm>
          <a:prstGeom prst="rect">
            <a:avLst/>
          </a:prstGeom>
          <a:noFill/>
        </p:spPr>
        <p:txBody>
          <a:bodyPr wrap="square" anchor="t" lIns="0" rIns="0" tIns="0" bIns="0">
            <a:spAutoFit/>
          </a:bodyPr>
          <a:lstStyle/>
          <a:p>
            <a:pPr algn="l"/>
            <a:r>
              <a:rPr sz="1350" b="1" spc="180">
                <a:solidFill>
                  <a:srgbClr val="C4C9FC"/>
                </a:solidFill>
                <a:latin typeface="Barlow Condensed"/>
              </a:rPr>
              <a:t>02 · GOVERNANCE WITHOUT TAKING ANYTHING AWAY</a:t>
            </a:r>
          </a:p>
        </p:txBody>
      </p:sp>
      <p:sp>
        <p:nvSpPr>
          <p:cNvPr id="4" name="TextBox 3"/>
          <p:cNvSpPr txBox="1"/>
          <p:nvPr/>
        </p:nvSpPr>
        <p:spPr>
          <a:xfrm>
            <a:off x="822960" y="1097280"/>
            <a:ext cx="10241280" cy="1463040"/>
          </a:xfrm>
          <a:prstGeom prst="rect">
            <a:avLst/>
          </a:prstGeom>
          <a:noFill/>
        </p:spPr>
        <p:txBody>
          <a:bodyPr wrap="square" anchor="t" lIns="0" rIns="0" tIns="0" bIns="0">
            <a:spAutoFit/>
          </a:bodyPr>
          <a:lstStyle/>
          <a:p>
            <a:pPr algn="l">
              <a:lnSpc>
                <a:spcPct val="100000"/>
              </a:lnSpc>
            </a:pPr>
            <a:r>
              <a:rPr sz="4000" b="1">
                <a:solidFill>
                  <a:srgbClr val="FFFFFF"/>
                </a:solidFill>
                <a:latin typeface="Barlow Condensed"/>
              </a:rPr>
              <a:t>You should not have to lock sharing down to get control of it.</a:t>
            </a:r>
          </a:p>
        </p:txBody>
      </p:sp>
      <p:sp>
        <p:nvSpPr>
          <p:cNvPr id="5" name="TextBox 4"/>
          <p:cNvSpPr txBox="1"/>
          <p:nvPr/>
        </p:nvSpPr>
        <p:spPr>
          <a:xfrm>
            <a:off x="822960" y="3017520"/>
            <a:ext cx="10058400" cy="3200400"/>
          </a:xfrm>
          <a:prstGeom prst="rect">
            <a:avLst/>
          </a:prstGeom>
          <a:noFill/>
        </p:spPr>
        <p:txBody>
          <a:bodyPr wrap="square" anchor="t" lIns="0" rIns="0" tIns="0" bIns="0">
            <a:spAutoFit/>
          </a:bodyPr>
          <a:lstStyle/>
          <a:p>
            <a:pPr algn="l">
              <a:lnSpc>
                <a:spcPct val="140000"/>
              </a:lnSpc>
              <a:spcAft>
                <a:spcPts val="1800"/>
              </a:spcAft>
            </a:pPr>
            <a:r>
              <a:rPr sz="1800" b="0">
                <a:solidFill>
                  <a:srgbClr val="DADDEF"/>
                </a:solidFill>
                <a:latin typeface="Figtree"/>
              </a:rPr>
              <a:t>Every answer to oversharing so far has been restriction. Tighten external sharing. Turn off Anyone links. Make people raise a ticket to collaborate. It works, and it costs you the goodwill of everybody who now has to ask permission to do their job.</a:t>
            </a:r>
          </a:p>
          <a:p>
            <a:pPr algn="l">
              <a:lnSpc>
                <a:spcPct val="140000"/>
              </a:lnSpc>
            </a:pPr>
            <a:r>
              <a:rPr sz="1800" b="0">
                <a:solidFill>
                  <a:srgbClr val="FFFFFF"/>
                </a:solidFill>
                <a:latin typeface="Figtree"/>
              </a:rPr>
              <a:t>This takes the other route. Nothing is locked down, nothing is blocked, and nobody is retrained. The people who made the sharing decisions are simply asked, later, whether they still stand — and their answers become your record.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2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10515600" cy="320040"/>
          </a:xfrm>
          <a:prstGeom prst="rect">
            <a:avLst/>
          </a:prstGeom>
          <a:noFill/>
        </p:spPr>
        <p:txBody>
          <a:bodyPr wrap="square" anchor="t" lIns="0" rIns="0" tIns="0" bIns="0">
            <a:spAutoFit/>
          </a:bodyPr>
          <a:lstStyle/>
          <a:p>
            <a:pPr algn="l"/>
            <a:r>
              <a:rPr sz="1350" b="1" spc="180">
                <a:solidFill>
                  <a:srgbClr val="C4C9FC"/>
                </a:solidFill>
                <a:latin typeface="Barlow Condensed"/>
              </a:rPr>
              <a:t>03 · HOW IT WORKS</a:t>
            </a:r>
          </a:p>
        </p:txBody>
      </p:sp>
      <p:sp>
        <p:nvSpPr>
          <p:cNvPr id="4" name="TextBox 3"/>
          <p:cNvSpPr txBox="1"/>
          <p:nvPr/>
        </p:nvSpPr>
        <p:spPr>
          <a:xfrm>
            <a:off x="822960" y="914400"/>
            <a:ext cx="6949440" cy="914400"/>
          </a:xfrm>
          <a:prstGeom prst="rect">
            <a:avLst/>
          </a:prstGeom>
          <a:noFill/>
        </p:spPr>
        <p:txBody>
          <a:bodyPr wrap="square" anchor="t" lIns="0" rIns="0" tIns="0" bIns="0">
            <a:spAutoFit/>
          </a:bodyPr>
          <a:lstStyle/>
          <a:p>
            <a:pPr algn="l">
              <a:lnSpc>
                <a:spcPct val="100000"/>
              </a:lnSpc>
            </a:pPr>
            <a:r>
              <a:rPr sz="3300" b="1">
                <a:solidFill>
                  <a:srgbClr val="FFFFFF"/>
                </a:solidFill>
                <a:latin typeface="Barlow Condensed"/>
              </a:rPr>
              <a:t>A named person, one question, a recorded answer.</a:t>
            </a:r>
          </a:p>
        </p:txBody>
      </p:sp>
      <p:sp>
        <p:nvSpPr>
          <p:cNvPr id="5" name="TextBox 4"/>
          <p:cNvSpPr txBox="1"/>
          <p:nvPr/>
        </p:nvSpPr>
        <p:spPr>
          <a:xfrm>
            <a:off x="7498079" y="914400"/>
            <a:ext cx="3931920" cy="1463040"/>
          </a:xfrm>
          <a:prstGeom prst="rect">
            <a:avLst/>
          </a:prstGeom>
          <a:noFill/>
        </p:spPr>
        <p:txBody>
          <a:bodyPr wrap="square" anchor="t" lIns="0" rIns="0" tIns="0" bIns="0">
            <a:spAutoFit/>
          </a:bodyPr>
          <a:lstStyle/>
          <a:p>
            <a:pPr algn="l">
              <a:lnSpc>
                <a:spcPct val="130000"/>
              </a:lnSpc>
            </a:pPr>
            <a:r>
              <a:rPr sz="1450" b="0">
                <a:solidFill>
                  <a:srgbClr val="7FE0C7"/>
                </a:solidFill>
                <a:latin typeface="Figtree"/>
              </a:rPr>
              <a:t>Megan shares a folder with Lars at Fabrikam. The project ends in May. In November, somebody finally asks.</a:t>
            </a:r>
          </a:p>
        </p:txBody>
      </p:sp>
      <p:sp>
        <p:nvSpPr>
          <p:cNvPr id="6" name="Rounded Rectangle 5"/>
          <p:cNvSpPr/>
          <p:nvPr/>
        </p:nvSpPr>
        <p:spPr>
          <a:xfrm>
            <a:off x="822960" y="2651760"/>
            <a:ext cx="3331464" cy="301752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651760"/>
            <a:ext cx="3331464" cy="109728"/>
          </a:xfrm>
          <a:prstGeom prst="rect">
            <a:avLst/>
          </a:prstGeom>
          <a:solidFill>
            <a:srgbClr val="0068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3017520"/>
            <a:ext cx="2782824" cy="2377440"/>
          </a:xfrm>
          <a:prstGeom prst="rect">
            <a:avLst/>
          </a:prstGeom>
          <a:noFill/>
        </p:spPr>
        <p:txBody>
          <a:bodyPr wrap="square" anchor="t" lIns="0" rIns="0" tIns="0" bIns="0">
            <a:spAutoFit/>
          </a:bodyPr>
          <a:lstStyle/>
          <a:p>
            <a:pPr algn="l"/>
            <a:r>
              <a:rPr sz="1400" b="1" spc="150">
                <a:solidFill>
                  <a:srgbClr val="0068A7"/>
                </a:solidFill>
                <a:latin typeface="Barlow Condensed"/>
              </a:rPr>
              <a:t>1 · WATCH</a:t>
            </a:r>
          </a:p>
          <a:p>
            <a:pPr algn="l">
              <a:lnSpc>
                <a:spcPct val="128000"/>
              </a:lnSpc>
              <a:spcBef>
                <a:spcPts val="800"/>
              </a:spcBef>
            </a:pPr>
            <a:r>
              <a:rPr sz="1450" b="0">
                <a:solidFill>
                  <a:srgbClr val="424244"/>
                </a:solidFill>
                <a:latin typeface="Figtree"/>
              </a:rPr>
              <a:t>We monitor what happens across Microsoft 365. When somebody shares a folder, or an external account appears, a </a:t>
            </a:r>
            <a:r>
              <a:rPr sz="1450" b="1">
                <a:solidFill>
                  <a:srgbClr val="1D1F20"/>
                </a:solidFill>
                <a:latin typeface="Figtree"/>
              </a:rPr>
              <a:t>named internal person becomes answerable</a:t>
            </a:r>
            <a:r>
              <a:rPr sz="1450" b="0">
                <a:solidFill>
                  <a:srgbClr val="424244"/>
                </a:solidFill>
                <a:latin typeface="Figtree"/>
              </a:rPr>
              <a:t> for that access.</a:t>
            </a:r>
          </a:p>
        </p:txBody>
      </p:sp>
      <p:sp>
        <p:nvSpPr>
          <p:cNvPr id="9" name="Rounded Rectangle 8"/>
          <p:cNvSpPr/>
          <p:nvPr/>
        </p:nvSpPr>
        <p:spPr>
          <a:xfrm>
            <a:off x="4428744" y="2651760"/>
            <a:ext cx="3331464" cy="301752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28744" y="2651760"/>
            <a:ext cx="3331464" cy="109728"/>
          </a:xfrm>
          <a:prstGeom prst="rect">
            <a:avLst/>
          </a:prstGeom>
          <a:solidFill>
            <a:srgbClr val="5658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03064" y="3017520"/>
            <a:ext cx="2782824" cy="2377440"/>
          </a:xfrm>
          <a:prstGeom prst="rect">
            <a:avLst/>
          </a:prstGeom>
          <a:noFill/>
        </p:spPr>
        <p:txBody>
          <a:bodyPr wrap="square" anchor="t" lIns="0" rIns="0" tIns="0" bIns="0">
            <a:spAutoFit/>
          </a:bodyPr>
          <a:lstStyle/>
          <a:p>
            <a:pPr algn="l"/>
            <a:r>
              <a:rPr sz="1400" b="1" spc="150">
                <a:solidFill>
                  <a:srgbClr val="5658AB"/>
                </a:solidFill>
                <a:latin typeface="Barlow Condensed"/>
              </a:rPr>
              <a:t>2 · ASK</a:t>
            </a:r>
          </a:p>
          <a:p>
            <a:pPr algn="l">
              <a:lnSpc>
                <a:spcPct val="128000"/>
              </a:lnSpc>
              <a:spcBef>
                <a:spcPts val="800"/>
              </a:spcBef>
            </a:pPr>
            <a:r>
              <a:rPr sz="1450" b="0">
                <a:solidFill>
                  <a:srgbClr val="424244"/>
                </a:solidFill>
                <a:latin typeface="Figtree"/>
              </a:rPr>
              <a:t>On a schedule you set, that person gets one question in Teams: </a:t>
            </a:r>
            <a:r>
              <a:rPr sz="1450" b="1">
                <a:solidFill>
                  <a:srgbClr val="1D1F20"/>
                </a:solidFill>
                <a:latin typeface="Figtree"/>
              </a:rPr>
              <a:t>is this still needed?</a:t>
            </a:r>
            <a:r>
              <a:rPr sz="1450" b="0">
                <a:solidFill>
                  <a:srgbClr val="424244"/>
                </a:solidFill>
                <a:latin typeface="Figtree"/>
              </a:rPr>
              <a:t> It takes one click.</a:t>
            </a:r>
          </a:p>
        </p:txBody>
      </p:sp>
      <p:sp>
        <p:nvSpPr>
          <p:cNvPr id="12" name="Rounded Rectangle 11"/>
          <p:cNvSpPr/>
          <p:nvPr/>
        </p:nvSpPr>
        <p:spPr>
          <a:xfrm>
            <a:off x="8034528" y="2651760"/>
            <a:ext cx="3331464" cy="3017520"/>
          </a:xfrm>
          <a:prstGeom prst="roundRect">
            <a:avLst>
              <a:gd name="adj" fmla="val 7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34528" y="2651760"/>
            <a:ext cx="3331464" cy="109728"/>
          </a:xfrm>
          <a:prstGeom prst="rect">
            <a:avLst/>
          </a:prstGeom>
          <a:solidFill>
            <a:srgbClr val="0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8848" y="3017520"/>
            <a:ext cx="2782824" cy="2377440"/>
          </a:xfrm>
          <a:prstGeom prst="rect">
            <a:avLst/>
          </a:prstGeom>
          <a:noFill/>
        </p:spPr>
        <p:txBody>
          <a:bodyPr wrap="square" anchor="t" lIns="0" rIns="0" tIns="0" bIns="0">
            <a:spAutoFit/>
          </a:bodyPr>
          <a:lstStyle/>
          <a:p>
            <a:pPr algn="l"/>
            <a:r>
              <a:rPr sz="1400" b="1" spc="150">
                <a:solidFill>
                  <a:srgbClr val="007A5F"/>
                </a:solidFill>
                <a:latin typeface="Barlow Condensed"/>
              </a:rPr>
              <a:t>3 · RECORD</a:t>
            </a:r>
          </a:p>
          <a:p>
            <a:pPr algn="l">
              <a:lnSpc>
                <a:spcPct val="128000"/>
              </a:lnSpc>
              <a:spcBef>
                <a:spcPts val="800"/>
              </a:spcBef>
            </a:pPr>
            <a:r>
              <a:rPr sz="1450" b="0">
                <a:solidFill>
                  <a:srgbClr val="424244"/>
                </a:solidFill>
                <a:latin typeface="Figtree"/>
              </a:rPr>
              <a:t>Not just the access change, but </a:t>
            </a:r>
            <a:r>
              <a:rPr sz="1450" b="1">
                <a:solidFill>
                  <a:srgbClr val="1D1F20"/>
                </a:solidFill>
                <a:latin typeface="Figtree"/>
              </a:rPr>
              <a:t>the decision</a:t>
            </a:r>
            <a:r>
              <a:rPr sz="1450" b="0">
                <a:solidFill>
                  <a:srgbClr val="424244"/>
                </a:solidFill>
                <a:latin typeface="Figtree"/>
              </a:rPr>
              <a:t> — who made it and when. The evidence a compliance review asks for and nobody has.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0515600" cy="320040"/>
          </a:xfrm>
          <a:prstGeom prst="rect">
            <a:avLst/>
          </a:prstGeom>
          <a:noFill/>
        </p:spPr>
        <p:txBody>
          <a:bodyPr wrap="square" anchor="t" lIns="0" rIns="0" tIns="0" bIns="0">
            <a:spAutoFit/>
          </a:bodyPr>
          <a:lstStyle/>
          <a:p>
            <a:pPr algn="l"/>
            <a:r>
              <a:rPr sz="1350" b="1" spc="180">
                <a:solidFill>
                  <a:srgbClr val="005694"/>
                </a:solidFill>
                <a:latin typeface="Barlow Condensed"/>
              </a:rPr>
              <a:t>04 · SHARED LINKS</a:t>
            </a:r>
          </a:p>
        </p:txBody>
      </p:sp>
      <p:sp>
        <p:nvSpPr>
          <p:cNvPr id="4" name="TextBox 3"/>
          <p:cNvSpPr txBox="1"/>
          <p:nvPr/>
        </p:nvSpPr>
        <p:spPr>
          <a:xfrm>
            <a:off x="822960" y="960120"/>
            <a:ext cx="6309360" cy="914400"/>
          </a:xfrm>
          <a:prstGeom prst="rect">
            <a:avLst/>
          </a:prstGeom>
          <a:noFill/>
        </p:spPr>
        <p:txBody>
          <a:bodyPr wrap="square" anchor="t" lIns="0" rIns="0" tIns="0" bIns="0">
            <a:spAutoFit/>
          </a:bodyPr>
          <a:lstStyle/>
          <a:p>
            <a:pPr algn="l">
              <a:lnSpc>
                <a:spcPct val="100000"/>
              </a:lnSpc>
            </a:pPr>
            <a:r>
              <a:rPr sz="3300" b="1">
                <a:solidFill>
                  <a:srgbClr val="1D1F20"/>
                </a:solidFill>
                <a:latin typeface="Barlow Condensed"/>
              </a:rPr>
              <a:t>Every link, not only the external ones.</a:t>
            </a:r>
          </a:p>
        </p:txBody>
      </p:sp>
      <p:sp>
        <p:nvSpPr>
          <p:cNvPr id="5" name="TextBox 4"/>
          <p:cNvSpPr txBox="1"/>
          <p:nvPr/>
        </p:nvSpPr>
        <p:spPr>
          <a:xfrm>
            <a:off x="822960" y="1965960"/>
            <a:ext cx="6035040" cy="2926080"/>
          </a:xfrm>
          <a:prstGeom prst="rect">
            <a:avLst/>
          </a:prstGeom>
          <a:noFill/>
        </p:spPr>
        <p:txBody>
          <a:bodyPr wrap="square" anchor="t" lIns="0" rIns="0" tIns="0" bIns="0">
            <a:spAutoFit/>
          </a:bodyPr>
          <a:lstStyle/>
          <a:p>
            <a:pPr algn="l">
              <a:lnSpc>
                <a:spcPct val="135000"/>
              </a:lnSpc>
              <a:spcAft>
                <a:spcPts val="1400"/>
              </a:spcAft>
            </a:pPr>
            <a:r>
              <a:rPr sz="1550" b="0">
                <a:solidFill>
                  <a:srgbClr val="5D5D60"/>
                </a:solidFill>
                <a:latin typeface="Figtree"/>
              </a:rPr>
              <a:t>People set expiry dates on links and forget them. When a link expires, work stops — so the instinct is to set long expiries, or none at all.</a:t>
            </a:r>
          </a:p>
          <a:p>
            <a:pPr algn="l">
              <a:lnSpc>
                <a:spcPct val="135000"/>
              </a:lnSpc>
            </a:pPr>
            <a:r>
              <a:rPr sz="1550" b="0">
                <a:solidFill>
                  <a:srgbClr val="5D5D60"/>
                </a:solidFill>
                <a:latin typeface="Figtree"/>
              </a:rPr>
              <a:t>A link shared with one colleague, with the whole company, or outside it: each was a decision with a reason, and each is watched the same way.</a:t>
            </a:r>
          </a:p>
        </p:txBody>
      </p:sp>
      <p:sp>
        <p:nvSpPr>
          <p:cNvPr id="6" name="TextBox 5"/>
          <p:cNvSpPr txBox="1"/>
          <p:nvPr/>
        </p:nvSpPr>
        <p:spPr>
          <a:xfrm>
            <a:off x="822960" y="4343400"/>
            <a:ext cx="6035040" cy="914400"/>
          </a:xfrm>
          <a:prstGeom prst="rect">
            <a:avLst/>
          </a:prstGeom>
          <a:noFill/>
        </p:spPr>
        <p:txBody>
          <a:bodyPr wrap="square" anchor="t" lIns="0" rIns="0" tIns="0" bIns="0">
            <a:spAutoFit/>
          </a:bodyPr>
          <a:lstStyle/>
          <a:p>
            <a:pPr algn="l"/>
            <a:r>
              <a:rPr sz="2100" b="1">
                <a:solidFill>
                  <a:srgbClr val="1D1F20"/>
                </a:solidFill>
                <a:latin typeface="Barlow Condensed"/>
              </a:rPr>
              <a:t>The existing link keeps working.  </a:t>
            </a:r>
            <a:r>
              <a:rPr sz="2100" b="1">
                <a:solidFill>
                  <a:srgbClr val="005694"/>
                </a:solidFill>
                <a:latin typeface="Barlow Condensed"/>
              </a:rPr>
              <a:t>There is nothing to re-send.</a:t>
            </a:r>
          </a:p>
        </p:txBody>
      </p:sp>
      <p:pic>
        <p:nvPicPr>
          <p:cNvPr id="7" name="Picture 6" descr="09-bot-card-link-expiring.png"/>
          <p:cNvPicPr>
            <a:picLocks noChangeAspect="1"/>
          </p:cNvPicPr>
          <p:nvPr/>
        </p:nvPicPr>
        <p:blipFill>
          <a:blip r:embed="rId2"/>
          <a:stretch>
            <a:fillRect/>
          </a:stretch>
        </p:blipFill>
        <p:spPr>
          <a:xfrm>
            <a:off x="7150608" y="2644604"/>
            <a:ext cx="4169664" cy="1111592"/>
          </a:xfrm>
          <a:prstGeom prst="rect">
            <a:avLst/>
          </a:prstGeom>
        </p:spPr>
      </p:pic>
      <p:sp>
        <p:nvSpPr>
          <p:cNvPr id="8" name="Rectangle 7"/>
          <p:cNvSpPr/>
          <p:nvPr/>
        </p:nvSpPr>
        <p:spPr>
          <a:xfrm>
            <a:off x="7059168" y="2553164"/>
            <a:ext cx="4352544" cy="1294472"/>
          </a:xfrm>
          <a:prstGeom prst="rect">
            <a:avLst/>
          </a:prstGeom>
          <a:noFill/>
          <a:ln w="15875">
            <a:solidFill>
              <a:srgbClr val="0068A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059168" y="2553164"/>
            <a:ext cx="155448" cy="25603"/>
          </a:xfrm>
          <a:prstGeom prst="rect">
            <a:avLst/>
          </a:prstGeom>
          <a:solidFill>
            <a:srgbClr val="0068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059168" y="2553164"/>
            <a:ext cx="25603" cy="155448"/>
          </a:xfrm>
          <a:prstGeom prst="rect">
            <a:avLst/>
          </a:prstGeom>
          <a:solidFill>
            <a:srgbClr val="0068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256264" y="2553164"/>
            <a:ext cx="155448" cy="25603"/>
          </a:xfrm>
          <a:prstGeom prst="rect">
            <a:avLst/>
          </a:prstGeom>
          <a:solidFill>
            <a:srgbClr val="0068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386109" y="2553164"/>
            <a:ext cx="25603" cy="155448"/>
          </a:xfrm>
          <a:prstGeom prst="rect">
            <a:avLst/>
          </a:prstGeom>
          <a:solidFill>
            <a:srgbClr val="0068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059168" y="3822033"/>
            <a:ext cx="155448" cy="25603"/>
          </a:xfrm>
          <a:prstGeom prst="rect">
            <a:avLst/>
          </a:prstGeom>
          <a:solidFill>
            <a:srgbClr val="0068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059168" y="3692188"/>
            <a:ext cx="25603" cy="155448"/>
          </a:xfrm>
          <a:prstGeom prst="rect">
            <a:avLst/>
          </a:prstGeom>
          <a:solidFill>
            <a:srgbClr val="0068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256264" y="3822033"/>
            <a:ext cx="155448" cy="25603"/>
          </a:xfrm>
          <a:prstGeom prst="rect">
            <a:avLst/>
          </a:prstGeom>
          <a:solidFill>
            <a:srgbClr val="0068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1386109" y="3692188"/>
            <a:ext cx="25603" cy="155448"/>
          </a:xfrm>
          <a:prstGeom prst="rect">
            <a:avLst/>
          </a:prstGeom>
          <a:solidFill>
            <a:srgbClr val="0068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80" y="5120640"/>
            <a:ext cx="4389120" cy="640080"/>
          </a:xfrm>
          <a:prstGeom prst="rect">
            <a:avLst/>
          </a:prstGeom>
          <a:noFill/>
        </p:spPr>
        <p:txBody>
          <a:bodyPr wrap="square" anchor="t" lIns="0" rIns="0" tIns="0" bIns="0">
            <a:spAutoFit/>
          </a:bodyPr>
          <a:lstStyle/>
          <a:p>
            <a:pPr algn="l"/>
            <a:r>
              <a:rPr sz="1100" b="1">
                <a:solidFill>
                  <a:srgbClr val="005694"/>
                </a:solidFill>
                <a:latin typeface="Barlow Condensed"/>
              </a:rPr>
              <a:t>FIG. 03   </a:t>
            </a:r>
            <a:r>
              <a:rPr sz="1100" b="0">
                <a:solidFill>
                  <a:srgbClr val="5D5D60"/>
                </a:solidFill>
                <a:latin typeface="Barlow Condensed"/>
              </a:rPr>
              <a:t>Before a link expires, its owner is told. One button extends it — same URL, same permission.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0515600" cy="320040"/>
          </a:xfrm>
          <a:prstGeom prst="rect">
            <a:avLst/>
          </a:prstGeom>
          <a:noFill/>
        </p:spPr>
        <p:txBody>
          <a:bodyPr wrap="square" anchor="t" lIns="0" rIns="0" tIns="0" bIns="0">
            <a:spAutoFit/>
          </a:bodyPr>
          <a:lstStyle/>
          <a:p>
            <a:pPr algn="l"/>
            <a:r>
              <a:rPr sz="1350" b="1" spc="180">
                <a:solidFill>
                  <a:srgbClr val="00684E"/>
                </a:solidFill>
                <a:latin typeface="Barlow Condensed"/>
              </a:rPr>
              <a:t>05 · GUEST ACCESS</a:t>
            </a:r>
          </a:p>
        </p:txBody>
      </p:sp>
      <p:sp>
        <p:nvSpPr>
          <p:cNvPr id="4" name="TextBox 3"/>
          <p:cNvSpPr txBox="1"/>
          <p:nvPr/>
        </p:nvSpPr>
        <p:spPr>
          <a:xfrm>
            <a:off x="822960" y="960120"/>
            <a:ext cx="6766560" cy="914400"/>
          </a:xfrm>
          <a:prstGeom prst="rect">
            <a:avLst/>
          </a:prstGeom>
          <a:noFill/>
        </p:spPr>
        <p:txBody>
          <a:bodyPr wrap="square" anchor="t" lIns="0" rIns="0" tIns="0" bIns="0">
            <a:spAutoFit/>
          </a:bodyPr>
          <a:lstStyle/>
          <a:p>
            <a:pPr algn="l">
              <a:lnSpc>
                <a:spcPct val="100000"/>
              </a:lnSpc>
            </a:pPr>
            <a:r>
              <a:rPr sz="3300" b="1">
                <a:solidFill>
                  <a:srgbClr val="1D1F20"/>
                </a:solidFill>
                <a:latin typeface="Barlow Condensed"/>
              </a:rPr>
              <a:t>Who is answerable for every guest.</a:t>
            </a:r>
          </a:p>
        </p:txBody>
      </p:sp>
      <p:sp>
        <p:nvSpPr>
          <p:cNvPr id="5" name="TextBox 4"/>
          <p:cNvSpPr txBox="1"/>
          <p:nvPr/>
        </p:nvSpPr>
        <p:spPr>
          <a:xfrm>
            <a:off x="822960" y="1965960"/>
            <a:ext cx="6583680" cy="3291840"/>
          </a:xfrm>
          <a:prstGeom prst="rect">
            <a:avLst/>
          </a:prstGeom>
          <a:noFill/>
        </p:spPr>
        <p:txBody>
          <a:bodyPr wrap="square" anchor="t" lIns="0" rIns="0" tIns="0" bIns="0">
            <a:spAutoFit/>
          </a:bodyPr>
          <a:lstStyle/>
          <a:p>
            <a:pPr algn="l">
              <a:lnSpc>
                <a:spcPct val="135000"/>
              </a:lnSpc>
              <a:spcAft>
                <a:spcPts val="1400"/>
              </a:spcAft>
            </a:pPr>
            <a:r>
              <a:rPr sz="1550" b="0">
                <a:solidFill>
                  <a:srgbClr val="5D5D60"/>
                </a:solidFill>
                <a:latin typeface="Figtree"/>
              </a:rPr>
              <a:t>Every guest invited from the day you switch it on, in one list, with the thing that exists nowhere else: who is answerable for them, and what they can reach today.</a:t>
            </a:r>
          </a:p>
          <a:p>
            <a:pPr algn="l">
              <a:lnSpc>
                <a:spcPct val="135000"/>
              </a:lnSpc>
            </a:pPr>
            <a:r>
              <a:rPr sz="1550" b="0">
                <a:solidFill>
                  <a:srgbClr val="5D5D60"/>
                </a:solidFill>
                <a:latin typeface="Figtree"/>
              </a:rPr>
              <a:t>On your schedule, that person is asked whether the guest is still needed. Say yes and the clock resets. Say no and the guest passes to the next person who invited them. Only when nobody is left does an administrator hear about it.</a:t>
            </a:r>
          </a:p>
        </p:txBody>
      </p:sp>
      <p:sp>
        <p:nvSpPr>
          <p:cNvPr id="6" name="Rounded Rectangle 5"/>
          <p:cNvSpPr/>
          <p:nvPr/>
        </p:nvSpPr>
        <p:spPr>
          <a:xfrm>
            <a:off x="7772400" y="1828800"/>
            <a:ext cx="3657600" cy="3017520"/>
          </a:xfrm>
          <a:prstGeom prst="roundRect">
            <a:avLst>
              <a:gd name="adj" fmla="val 7000"/>
            </a:avLst>
          </a:prstGeom>
          <a:solidFill>
            <a:srgbClr val="DC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0" y="2194560"/>
            <a:ext cx="3108960" cy="2377440"/>
          </a:xfrm>
          <a:prstGeom prst="rect">
            <a:avLst/>
          </a:prstGeom>
          <a:noFill/>
        </p:spPr>
        <p:txBody>
          <a:bodyPr wrap="square" anchor="ctr" lIns="0" rIns="0" tIns="0" bIns="0">
            <a:spAutoFit/>
          </a:bodyPr>
          <a:lstStyle/>
          <a:p>
            <a:pPr algn="l">
              <a:lnSpc>
                <a:spcPct val="108000"/>
              </a:lnSpc>
            </a:pPr>
            <a:r>
              <a:rPr sz="2300" b="1">
                <a:solidFill>
                  <a:srgbClr val="00684E"/>
                </a:solidFill>
                <a:latin typeface="Barlow Condensed"/>
              </a:rPr>
              <a:t>A “no” from one person is not a verdict on the guest. It is one person stepping back.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CE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515600" cy="320040"/>
          </a:xfrm>
          <a:prstGeom prst="rect">
            <a:avLst/>
          </a:prstGeom>
          <a:noFill/>
        </p:spPr>
        <p:txBody>
          <a:bodyPr wrap="square" anchor="t" lIns="0" rIns="0" tIns="0" bIns="0">
            <a:spAutoFit/>
          </a:bodyPr>
          <a:lstStyle/>
          <a:p>
            <a:pPr algn="l"/>
            <a:r>
              <a:rPr sz="1350" b="1" spc="180">
                <a:solidFill>
                  <a:srgbClr val="474698"/>
                </a:solidFill>
                <a:latin typeface="Barlow Condensed"/>
              </a:rPr>
              <a:t>INSIDE TEAMS</a:t>
            </a:r>
          </a:p>
        </p:txBody>
      </p:sp>
      <p:sp>
        <p:nvSpPr>
          <p:cNvPr id="4" name="TextBox 3"/>
          <p:cNvSpPr txBox="1"/>
          <p:nvPr/>
        </p:nvSpPr>
        <p:spPr>
          <a:xfrm>
            <a:off x="822960" y="822960"/>
            <a:ext cx="10515600" cy="640080"/>
          </a:xfrm>
          <a:prstGeom prst="rect">
            <a:avLst/>
          </a:prstGeom>
          <a:noFill/>
        </p:spPr>
        <p:txBody>
          <a:bodyPr wrap="square" anchor="t" lIns="0" rIns="0" tIns="0" bIns="0">
            <a:spAutoFit/>
          </a:bodyPr>
          <a:lstStyle/>
          <a:p>
            <a:pPr algn="l"/>
            <a:r>
              <a:rPr sz="3000" b="1">
                <a:solidFill>
                  <a:srgbClr val="1D1F20"/>
                </a:solidFill>
                <a:latin typeface="Barlow Condensed"/>
              </a:rPr>
              <a:t>The two apps, as people use them</a:t>
            </a:r>
          </a:p>
        </p:txBody>
      </p:sp>
      <p:pic>
        <p:nvPicPr>
          <p:cNvPr id="5" name="Picture 4" descr="01-sharedlinks-dashboard.png"/>
          <p:cNvPicPr>
            <a:picLocks noChangeAspect="1"/>
          </p:cNvPicPr>
          <p:nvPr/>
        </p:nvPicPr>
        <p:blipFill>
          <a:blip r:embed="rId2"/>
          <a:stretch>
            <a:fillRect/>
          </a:stretch>
        </p:blipFill>
        <p:spPr>
          <a:xfrm>
            <a:off x="932688" y="1850895"/>
            <a:ext cx="4823460" cy="1830330"/>
          </a:xfrm>
          <a:prstGeom prst="rect">
            <a:avLst/>
          </a:prstGeom>
        </p:spPr>
      </p:pic>
      <p:sp>
        <p:nvSpPr>
          <p:cNvPr id="6" name="Rectangle 5"/>
          <p:cNvSpPr/>
          <p:nvPr/>
        </p:nvSpPr>
        <p:spPr>
          <a:xfrm>
            <a:off x="841248" y="1759455"/>
            <a:ext cx="5006340" cy="2013210"/>
          </a:xfrm>
          <a:prstGeom prst="rect">
            <a:avLst/>
          </a:prstGeom>
          <a:noFill/>
          <a:ln w="15875">
            <a:solidFill>
              <a:srgbClr val="0068A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822192"/>
            <a:ext cx="5042916" cy="274320"/>
          </a:xfrm>
          <a:prstGeom prst="rect">
            <a:avLst/>
          </a:prstGeom>
          <a:noFill/>
        </p:spPr>
        <p:txBody>
          <a:bodyPr wrap="square" anchor="t" lIns="0" rIns="0" tIns="0" bIns="0">
            <a:spAutoFit/>
          </a:bodyPr>
          <a:lstStyle/>
          <a:p>
            <a:pPr algn="l"/>
            <a:r>
              <a:rPr sz="1150" b="1" spc="100">
                <a:solidFill>
                  <a:srgbClr val="0068A7"/>
                </a:solidFill>
                <a:latin typeface="Barlow Condensed"/>
              </a:rPr>
              <a:t>SHARED LINKS · DASHBOARD</a:t>
            </a:r>
          </a:p>
        </p:txBody>
      </p:sp>
      <p:pic>
        <p:nvPicPr>
          <p:cNvPr id="8" name="Picture 7" descr="03-sharedlinks-reports.png"/>
          <p:cNvPicPr>
            <a:picLocks noChangeAspect="1"/>
          </p:cNvPicPr>
          <p:nvPr/>
        </p:nvPicPr>
        <p:blipFill>
          <a:blip r:embed="rId3"/>
          <a:stretch>
            <a:fillRect/>
          </a:stretch>
        </p:blipFill>
        <p:spPr>
          <a:xfrm>
            <a:off x="6432804" y="1850895"/>
            <a:ext cx="4823460" cy="1830330"/>
          </a:xfrm>
          <a:prstGeom prst="rect">
            <a:avLst/>
          </a:prstGeom>
        </p:spPr>
      </p:pic>
      <p:sp>
        <p:nvSpPr>
          <p:cNvPr id="9" name="Rectangle 8"/>
          <p:cNvSpPr/>
          <p:nvPr/>
        </p:nvSpPr>
        <p:spPr>
          <a:xfrm>
            <a:off x="6341364" y="1759455"/>
            <a:ext cx="5006340" cy="2013210"/>
          </a:xfrm>
          <a:prstGeom prst="rect">
            <a:avLst/>
          </a:prstGeom>
          <a:noFill/>
          <a:ln w="15875">
            <a:solidFill>
              <a:srgbClr val="0068A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14516" y="3822192"/>
            <a:ext cx="5042916" cy="274320"/>
          </a:xfrm>
          <a:prstGeom prst="rect">
            <a:avLst/>
          </a:prstGeom>
          <a:noFill/>
        </p:spPr>
        <p:txBody>
          <a:bodyPr wrap="square" anchor="t" lIns="0" rIns="0" tIns="0" bIns="0">
            <a:spAutoFit/>
          </a:bodyPr>
          <a:lstStyle/>
          <a:p>
            <a:pPr algn="l"/>
            <a:r>
              <a:rPr sz="1150" b="1" spc="100">
                <a:solidFill>
                  <a:srgbClr val="0068A7"/>
                </a:solidFill>
                <a:latin typeface="Barlow Condensed"/>
              </a:rPr>
              <a:t>SHARED LINKS · REPORTS</a:t>
            </a:r>
          </a:p>
        </p:txBody>
      </p:sp>
      <p:pic>
        <p:nvPicPr>
          <p:cNvPr id="11" name="Picture 10" descr="06-guest-my-guests.png"/>
          <p:cNvPicPr>
            <a:picLocks noChangeAspect="1"/>
          </p:cNvPicPr>
          <p:nvPr/>
        </p:nvPicPr>
        <p:blipFill>
          <a:blip r:embed="rId4"/>
          <a:stretch>
            <a:fillRect/>
          </a:stretch>
        </p:blipFill>
        <p:spPr>
          <a:xfrm>
            <a:off x="932688" y="4502655"/>
            <a:ext cx="4823460" cy="1830330"/>
          </a:xfrm>
          <a:prstGeom prst="rect">
            <a:avLst/>
          </a:prstGeom>
        </p:spPr>
      </p:pic>
      <p:sp>
        <p:nvSpPr>
          <p:cNvPr id="12" name="Rectangle 11"/>
          <p:cNvSpPr/>
          <p:nvPr/>
        </p:nvSpPr>
        <p:spPr>
          <a:xfrm>
            <a:off x="841248" y="4411215"/>
            <a:ext cx="5006340" cy="2013210"/>
          </a:xfrm>
          <a:prstGeom prst="rect">
            <a:avLst/>
          </a:prstGeom>
          <a:noFill/>
          <a:ln w="15875">
            <a:solidFill>
              <a:srgbClr val="007A5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6473952"/>
            <a:ext cx="5042916" cy="274320"/>
          </a:xfrm>
          <a:prstGeom prst="rect">
            <a:avLst/>
          </a:prstGeom>
          <a:noFill/>
        </p:spPr>
        <p:txBody>
          <a:bodyPr wrap="square" anchor="t" lIns="0" rIns="0" tIns="0" bIns="0">
            <a:spAutoFit/>
          </a:bodyPr>
          <a:lstStyle/>
          <a:p>
            <a:pPr algn="l"/>
            <a:r>
              <a:rPr sz="1150" b="1" spc="100">
                <a:solidFill>
                  <a:srgbClr val="007A5F"/>
                </a:solidFill>
                <a:latin typeface="Barlow Condensed"/>
              </a:rPr>
              <a:t>GUEST ACCESS · MY GUESTS</a:t>
            </a:r>
          </a:p>
        </p:txBody>
      </p:sp>
      <p:pic>
        <p:nvPicPr>
          <p:cNvPr id="14" name="Picture 13" descr="08-guest-detail.png"/>
          <p:cNvPicPr>
            <a:picLocks noChangeAspect="1"/>
          </p:cNvPicPr>
          <p:nvPr/>
        </p:nvPicPr>
        <p:blipFill>
          <a:blip r:embed="rId5"/>
          <a:stretch>
            <a:fillRect/>
          </a:stretch>
        </p:blipFill>
        <p:spPr>
          <a:xfrm>
            <a:off x="6432804" y="4502655"/>
            <a:ext cx="4823460" cy="1830330"/>
          </a:xfrm>
          <a:prstGeom prst="rect">
            <a:avLst/>
          </a:prstGeom>
        </p:spPr>
      </p:pic>
      <p:sp>
        <p:nvSpPr>
          <p:cNvPr id="15" name="Rectangle 14"/>
          <p:cNvSpPr/>
          <p:nvPr/>
        </p:nvSpPr>
        <p:spPr>
          <a:xfrm>
            <a:off x="6341364" y="4411215"/>
            <a:ext cx="5006340" cy="2013210"/>
          </a:xfrm>
          <a:prstGeom prst="rect">
            <a:avLst/>
          </a:prstGeom>
          <a:noFill/>
          <a:ln w="15875">
            <a:solidFill>
              <a:srgbClr val="007A5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14516" y="6473952"/>
            <a:ext cx="5042916" cy="274320"/>
          </a:xfrm>
          <a:prstGeom prst="rect">
            <a:avLst/>
          </a:prstGeom>
          <a:noFill/>
        </p:spPr>
        <p:txBody>
          <a:bodyPr wrap="square" anchor="t" lIns="0" rIns="0" tIns="0" bIns="0">
            <a:spAutoFit/>
          </a:bodyPr>
          <a:lstStyle/>
          <a:p>
            <a:pPr algn="l"/>
            <a:r>
              <a:rPr sz="1150" b="1" spc="100">
                <a:solidFill>
                  <a:srgbClr val="007A5F"/>
                </a:solidFill>
                <a:latin typeface="Barlow Condensed"/>
              </a:rPr>
              <a:t>GUEST ACCESS · GUEST DETAIL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2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320040"/>
          </a:xfrm>
          <a:prstGeom prst="rect">
            <a:avLst/>
          </a:prstGeom>
          <a:noFill/>
        </p:spPr>
        <p:txBody>
          <a:bodyPr wrap="square" anchor="t" lIns="0" rIns="0" tIns="0" bIns="0">
            <a:spAutoFit/>
          </a:bodyPr>
          <a:lstStyle/>
          <a:p>
            <a:pPr algn="l"/>
            <a:r>
              <a:rPr sz="1350" b="1" spc="180">
                <a:solidFill>
                  <a:srgbClr val="C4C9FC"/>
                </a:solidFill>
                <a:latin typeface="Barlow Condensed"/>
              </a:rPr>
              <a:t>06 · PEOPLE SEE ONLY WHAT THEY ARE ANSWERABLE FOR</a:t>
            </a:r>
          </a:p>
        </p:txBody>
      </p:sp>
      <p:sp>
        <p:nvSpPr>
          <p:cNvPr id="4" name="TextBox 3"/>
          <p:cNvSpPr txBox="1"/>
          <p:nvPr/>
        </p:nvSpPr>
        <p:spPr>
          <a:xfrm>
            <a:off x="822960" y="1234440"/>
            <a:ext cx="10241280" cy="1828800"/>
          </a:xfrm>
          <a:prstGeom prst="rect">
            <a:avLst/>
          </a:prstGeom>
          <a:noFill/>
        </p:spPr>
        <p:txBody>
          <a:bodyPr wrap="square" anchor="t" lIns="0" rIns="0" tIns="0" bIns="0">
            <a:spAutoFit/>
          </a:bodyPr>
          <a:lstStyle/>
          <a:p>
            <a:pPr algn="l">
              <a:lnSpc>
                <a:spcPct val="105000"/>
              </a:lnSpc>
            </a:pPr>
            <a:r>
              <a:rPr sz="3600" b="1">
                <a:solidFill>
                  <a:srgbClr val="FFFFFF"/>
                </a:solidFill>
                <a:latin typeface="Barlow Condensed"/>
              </a:rPr>
              <a:t>“Counted, not listed. These were shared by someone else, so their names are </a:t>
            </a:r>
            <a:r>
              <a:rPr sz="3600" b="1">
                <a:solidFill>
                  <a:srgbClr val="7FE0C7"/>
                </a:solidFill>
                <a:latin typeface="Barlow Condensed"/>
              </a:rPr>
              <a:t>not yours to read.”</a:t>
            </a:r>
          </a:p>
        </p:txBody>
      </p:sp>
      <p:sp>
        <p:nvSpPr>
          <p:cNvPr id="5" name="TextBox 4"/>
          <p:cNvSpPr txBox="1"/>
          <p:nvPr/>
        </p:nvSpPr>
        <p:spPr>
          <a:xfrm>
            <a:off x="822960" y="3566160"/>
            <a:ext cx="10058400" cy="2743200"/>
          </a:xfrm>
          <a:prstGeom prst="rect">
            <a:avLst/>
          </a:prstGeom>
          <a:noFill/>
        </p:spPr>
        <p:txBody>
          <a:bodyPr wrap="square" anchor="t" lIns="0" rIns="0" tIns="0" bIns="0">
            <a:spAutoFit/>
          </a:bodyPr>
          <a:lstStyle/>
          <a:p>
            <a:pPr algn="l">
              <a:lnSpc>
                <a:spcPct val="140000"/>
              </a:lnSpc>
              <a:spcAft>
                <a:spcPts val="1600"/>
              </a:spcAft>
            </a:pPr>
            <a:r>
              <a:rPr sz="1700" b="0">
                <a:solidFill>
                  <a:srgbClr val="DADDEF"/>
                </a:solidFill>
                <a:latin typeface="Figtree"/>
              </a:rPr>
              <a:t>Access is enforced in the database itself, not by hiding things in the interface. Somebody who opens a guest's page sees the folders they shared. Where that guest can also reach folders shared by colleagues, they get the number — but not the names.</a:t>
            </a:r>
          </a:p>
          <a:p>
            <a:pPr algn="l">
              <a:lnSpc>
                <a:spcPct val="140000"/>
              </a:lnSpc>
            </a:pPr>
            <a:r>
              <a:rPr sz="1700" b="0">
                <a:solidFill>
                  <a:srgbClr val="FFFFFF"/>
                </a:solidFill>
                <a:latin typeface="Figtree"/>
              </a:rPr>
              <a:t>Administrators see the whole tenant. Everybody else sees exactly their own responsibility.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57200"/>
            <a:ext cx="10515600" cy="320040"/>
          </a:xfrm>
          <a:prstGeom prst="rect">
            <a:avLst/>
          </a:prstGeom>
          <a:noFill/>
        </p:spPr>
        <p:txBody>
          <a:bodyPr wrap="square" anchor="t" lIns="0" rIns="0" tIns="0" bIns="0">
            <a:spAutoFit/>
          </a:bodyPr>
          <a:lstStyle/>
          <a:p>
            <a:pPr algn="l"/>
            <a:r>
              <a:rPr sz="1350" b="1" spc="180">
                <a:solidFill>
                  <a:srgbClr val="9F422B"/>
                </a:solidFill>
                <a:latin typeface="Barlow Condensed"/>
              </a:rPr>
              <a:t>07 · YOU DECIDE WHAT IT IS ALLOWED TO DO</a:t>
            </a:r>
          </a:p>
        </p:txBody>
      </p:sp>
      <p:sp>
        <p:nvSpPr>
          <p:cNvPr id="4" name="TextBox 3"/>
          <p:cNvSpPr txBox="1"/>
          <p:nvPr/>
        </p:nvSpPr>
        <p:spPr>
          <a:xfrm>
            <a:off x="822960" y="868680"/>
            <a:ext cx="7863840" cy="1097280"/>
          </a:xfrm>
          <a:prstGeom prst="rect">
            <a:avLst/>
          </a:prstGeom>
          <a:noFill/>
        </p:spPr>
        <p:txBody>
          <a:bodyPr wrap="square" anchor="t" lIns="0" rIns="0" tIns="0" bIns="0">
            <a:spAutoFit/>
          </a:bodyPr>
          <a:lstStyle/>
          <a:p>
            <a:pPr algn="l">
              <a:lnSpc>
                <a:spcPct val="100000"/>
              </a:lnSpc>
            </a:pPr>
            <a:r>
              <a:rPr sz="3100" b="1">
                <a:solidFill>
                  <a:srgbClr val="1D1F20"/>
                </a:solidFill>
                <a:latin typeface="Barlow Condensed"/>
              </a:rPr>
              <a:t>It asks questions. What it does with the answers is yours to set.</a:t>
            </a:r>
          </a:p>
        </p:txBody>
      </p:sp>
      <p:sp>
        <p:nvSpPr>
          <p:cNvPr id="5" name="TextBox 4"/>
          <p:cNvSpPr txBox="1"/>
          <p:nvPr/>
        </p:nvSpPr>
        <p:spPr>
          <a:xfrm>
            <a:off x="8778240" y="914400"/>
            <a:ext cx="2651760" cy="914400"/>
          </a:xfrm>
          <a:prstGeom prst="rect">
            <a:avLst/>
          </a:prstGeom>
          <a:noFill/>
        </p:spPr>
        <p:txBody>
          <a:bodyPr wrap="square" anchor="t" lIns="0" rIns="0" tIns="0" bIns="0">
            <a:spAutoFit/>
          </a:bodyPr>
          <a:lstStyle/>
          <a:p>
            <a:pPr algn="l">
              <a:lnSpc>
                <a:spcPct val="130000"/>
              </a:lnSpc>
            </a:pPr>
            <a:r>
              <a:rPr sz="1300" b="0">
                <a:solidFill>
                  <a:srgbClr val="5D5D60"/>
                </a:solidFill>
                <a:latin typeface="Figtree"/>
              </a:rPr>
              <a:t>The defaults are the cautious ones.</a:t>
            </a:r>
          </a:p>
        </p:txBody>
      </p:sp>
      <p:sp>
        <p:nvSpPr>
          <p:cNvPr id="6" name="Rounded Rectangle 5"/>
          <p:cNvSpPr/>
          <p:nvPr/>
        </p:nvSpPr>
        <p:spPr>
          <a:xfrm>
            <a:off x="822960" y="2286000"/>
            <a:ext cx="3331464" cy="2651760"/>
          </a:xfrm>
          <a:prstGeom prst="roundRect">
            <a:avLst>
              <a:gd name="adj" fmla="val 7000"/>
            </a:avLst>
          </a:prstGeom>
          <a:solidFill>
            <a:srgbClr val="E0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560320"/>
            <a:ext cx="2782824" cy="2103120"/>
          </a:xfrm>
          <a:prstGeom prst="rect">
            <a:avLst/>
          </a:prstGeom>
          <a:noFill/>
        </p:spPr>
        <p:txBody>
          <a:bodyPr wrap="square" anchor="t" lIns="0" rIns="0" tIns="0" bIns="0">
            <a:spAutoFit/>
          </a:bodyPr>
          <a:lstStyle/>
          <a:p>
            <a:pPr algn="l"/>
            <a:r>
              <a:rPr sz="2000" b="1">
                <a:solidFill>
                  <a:srgbClr val="005694"/>
                </a:solidFill>
                <a:latin typeface="Barlow Condensed"/>
              </a:rPr>
              <a:t>Links</a:t>
            </a:r>
          </a:p>
          <a:p>
            <a:pPr algn="l">
              <a:lnSpc>
                <a:spcPct val="130000"/>
              </a:lnSpc>
              <a:spcBef>
                <a:spcPts val="800"/>
              </a:spcBef>
            </a:pPr>
            <a:r>
              <a:rPr sz="1350" b="0">
                <a:solidFill>
                  <a:srgbClr val="424244"/>
                </a:solidFill>
                <a:latin typeface="Figtree"/>
              </a:rPr>
              <a:t>Let people extend an expiry from the card, or keep it read-only and let the reminder stand on its own.</a:t>
            </a:r>
          </a:p>
          <a:p>
            <a:pPr algn="l">
              <a:spcBef>
                <a:spcPts val="1200"/>
              </a:spcBef>
            </a:pPr>
            <a:r>
              <a:rPr sz="1100" b="1" spc="80">
                <a:solidFill>
                  <a:srgbClr val="005694"/>
                </a:solidFill>
                <a:latin typeface="Barlow Condensed"/>
              </a:rPr>
              <a:t>SHIPS WITH: EXTEND FROM THE CARD</a:t>
            </a:r>
          </a:p>
        </p:txBody>
      </p:sp>
      <p:sp>
        <p:nvSpPr>
          <p:cNvPr id="8" name="Rounded Rectangle 7"/>
          <p:cNvSpPr/>
          <p:nvPr/>
        </p:nvSpPr>
        <p:spPr>
          <a:xfrm>
            <a:off x="4428744" y="2286000"/>
            <a:ext cx="3331464" cy="2651760"/>
          </a:xfrm>
          <a:prstGeom prst="roundRect">
            <a:avLst>
              <a:gd name="adj" fmla="val 7000"/>
            </a:avLst>
          </a:prstGeom>
          <a:solidFill>
            <a:srgbClr val="ECE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03064" y="2560320"/>
            <a:ext cx="2782824" cy="2103120"/>
          </a:xfrm>
          <a:prstGeom prst="rect">
            <a:avLst/>
          </a:prstGeom>
          <a:noFill/>
        </p:spPr>
        <p:txBody>
          <a:bodyPr wrap="square" anchor="t" lIns="0" rIns="0" tIns="0" bIns="0">
            <a:spAutoFit/>
          </a:bodyPr>
          <a:lstStyle/>
          <a:p>
            <a:pPr algn="l"/>
            <a:r>
              <a:rPr sz="2000" b="1">
                <a:solidFill>
                  <a:srgbClr val="474698"/>
                </a:solidFill>
                <a:latin typeface="Barlow Condensed"/>
              </a:rPr>
              <a:t>Guests</a:t>
            </a:r>
          </a:p>
          <a:p>
            <a:pPr algn="l">
              <a:lnSpc>
                <a:spcPct val="130000"/>
              </a:lnSpc>
              <a:spcBef>
                <a:spcPts val="800"/>
              </a:spcBef>
            </a:pPr>
            <a:r>
              <a:rPr sz="1350" b="0">
                <a:solidFill>
                  <a:srgbClr val="424244"/>
                </a:solidFill>
                <a:latin typeface="Figtree"/>
              </a:rPr>
              <a:t>A final “no longer needed” can be recorded for an administrator to act on, or act on the account directly.</a:t>
            </a:r>
          </a:p>
          <a:p>
            <a:pPr algn="l">
              <a:spcBef>
                <a:spcPts val="1200"/>
              </a:spcBef>
            </a:pPr>
            <a:r>
              <a:rPr sz="1100" b="1" spc="80">
                <a:solidFill>
                  <a:srgbClr val="474698"/>
                </a:solidFill>
                <a:latin typeface="Barlow Condensed"/>
              </a:rPr>
              <a:t>SHIPS WITH: RECORDING ONLY</a:t>
            </a:r>
          </a:p>
        </p:txBody>
      </p:sp>
      <p:sp>
        <p:nvSpPr>
          <p:cNvPr id="10" name="Rounded Rectangle 9"/>
          <p:cNvSpPr/>
          <p:nvPr/>
        </p:nvSpPr>
        <p:spPr>
          <a:xfrm>
            <a:off x="8034528" y="2286000"/>
            <a:ext cx="3331464" cy="2651760"/>
          </a:xfrm>
          <a:prstGeom prst="roundRect">
            <a:avLst>
              <a:gd name="adj" fmla="val 7000"/>
            </a:avLst>
          </a:prstGeom>
          <a:solidFill>
            <a:srgbClr val="DCF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08848" y="2560320"/>
            <a:ext cx="2782824" cy="2103120"/>
          </a:xfrm>
          <a:prstGeom prst="rect">
            <a:avLst/>
          </a:prstGeom>
          <a:noFill/>
        </p:spPr>
        <p:txBody>
          <a:bodyPr wrap="square" anchor="t" lIns="0" rIns="0" tIns="0" bIns="0">
            <a:spAutoFit/>
          </a:bodyPr>
          <a:lstStyle/>
          <a:p>
            <a:pPr algn="l"/>
            <a:r>
              <a:rPr sz="2000" b="1">
                <a:solidFill>
                  <a:srgbClr val="00684E"/>
                </a:solidFill>
                <a:latin typeface="Barlow Condensed"/>
              </a:rPr>
              <a:t>Timing</a:t>
            </a:r>
          </a:p>
          <a:p>
            <a:pPr algn="l">
              <a:lnSpc>
                <a:spcPct val="130000"/>
              </a:lnSpc>
              <a:spcBef>
                <a:spcPts val="800"/>
              </a:spcBef>
            </a:pPr>
            <a:r>
              <a:rPr sz="1350" b="0">
                <a:solidFill>
                  <a:srgbClr val="424244"/>
                </a:solidFill>
                <a:latin typeface="Figtree"/>
              </a:rPr>
              <a:t>How long before an expiry people are reminded, how long before a guest is revisited, and what a “still needed” buys.</a:t>
            </a:r>
          </a:p>
          <a:p>
            <a:pPr algn="l">
              <a:spcBef>
                <a:spcPts val="1200"/>
              </a:spcBef>
            </a:pPr>
            <a:r>
              <a:rPr sz="1100" b="1" spc="80">
                <a:solidFill>
                  <a:srgbClr val="00684E"/>
                </a:solidFill>
                <a:latin typeface="Barlow Condensed"/>
              </a:rPr>
              <a:t>YOUR SCHEDULE</a:t>
            </a:r>
          </a:p>
        </p:txBody>
      </p:sp>
      <p:sp>
        <p:nvSpPr>
          <p:cNvPr id="12" name="TextBox 11"/>
          <p:cNvSpPr txBox="1"/>
          <p:nvPr/>
        </p:nvSpPr>
        <p:spPr>
          <a:xfrm>
            <a:off x="822960" y="5257800"/>
            <a:ext cx="10515600" cy="1280160"/>
          </a:xfrm>
          <a:prstGeom prst="rect">
            <a:avLst/>
          </a:prstGeom>
          <a:noFill/>
        </p:spPr>
        <p:txBody>
          <a:bodyPr wrap="square" anchor="t" lIns="0" rIns="0" tIns="0" bIns="0">
            <a:spAutoFit/>
          </a:bodyPr>
          <a:lstStyle/>
          <a:p>
            <a:pPr algn="l"/>
            <a:r>
              <a:rPr sz="2200" b="1">
                <a:solidFill>
                  <a:srgbClr val="1D1F20"/>
                </a:solidFill>
                <a:latin typeface="Barlow Condensed"/>
              </a:rPr>
              <a:t>Until you turn something on, </a:t>
            </a:r>
            <a:r>
              <a:rPr sz="2200" b="1">
                <a:solidFill>
                  <a:srgbClr val="9F422B"/>
                </a:solidFill>
                <a:latin typeface="Barlow Condensed"/>
              </a:rPr>
              <a:t>it holds no permission to do it.</a:t>
            </a:r>
          </a:p>
          <a:p>
            <a:pPr algn="l">
              <a:lnSpc>
                <a:spcPct val="130000"/>
              </a:lnSpc>
              <a:spcBef>
                <a:spcPts val="600"/>
              </a:spcBef>
            </a:pPr>
            <a:r>
              <a:rPr sz="1350" b="0">
                <a:solidFill>
                  <a:srgbClr val="5D5D60"/>
                </a:solidFill>
                <a:latin typeface="Figtree"/>
              </a:rPr>
              <a:t>That is not a policy setting. Where the product is set to record rather than act, it is not granted the access that would let it act at all.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CE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822960"/>
            <a:ext cx="10515600" cy="320040"/>
          </a:xfrm>
          <a:prstGeom prst="rect">
            <a:avLst/>
          </a:prstGeom>
          <a:noFill/>
        </p:spPr>
        <p:txBody>
          <a:bodyPr wrap="square" anchor="t" lIns="0" rIns="0" tIns="0" bIns="0">
            <a:spAutoFit/>
          </a:bodyPr>
          <a:lstStyle/>
          <a:p>
            <a:pPr algn="l"/>
            <a:r>
              <a:rPr sz="1350" b="1" spc="180">
                <a:solidFill>
                  <a:srgbClr val="00684E"/>
                </a:solidFill>
                <a:latin typeface="Barlow Condensed"/>
              </a:rPr>
              <a:t>08 · IT CONNECTS TO WHAT YOU ALREADY HAVE</a:t>
            </a:r>
          </a:p>
        </p:txBody>
      </p:sp>
      <p:sp>
        <p:nvSpPr>
          <p:cNvPr id="4" name="TextBox 3"/>
          <p:cNvSpPr txBox="1"/>
          <p:nvPr/>
        </p:nvSpPr>
        <p:spPr>
          <a:xfrm>
            <a:off x="822960" y="1371600"/>
            <a:ext cx="10241280" cy="1463040"/>
          </a:xfrm>
          <a:prstGeom prst="rect">
            <a:avLst/>
          </a:prstGeom>
          <a:noFill/>
        </p:spPr>
        <p:txBody>
          <a:bodyPr wrap="square" anchor="t" lIns="0" rIns="0" tIns="0" bIns="0">
            <a:spAutoFit/>
          </a:bodyPr>
          <a:lstStyle/>
          <a:p>
            <a:pPr algn="l">
              <a:lnSpc>
                <a:spcPct val="102000"/>
              </a:lnSpc>
            </a:pPr>
            <a:r>
              <a:rPr sz="3600" b="1">
                <a:solidFill>
                  <a:srgbClr val="1D1F20"/>
                </a:solidFill>
                <a:latin typeface="Barlow Condensed"/>
              </a:rPr>
              <a:t>The signals about sharing stop being Microsoft's and start being yours.</a:t>
            </a:r>
          </a:p>
        </p:txBody>
      </p:sp>
      <p:sp>
        <p:nvSpPr>
          <p:cNvPr id="5" name="TextBox 4"/>
          <p:cNvSpPr txBox="1"/>
          <p:nvPr/>
        </p:nvSpPr>
        <p:spPr>
          <a:xfrm>
            <a:off x="822960" y="3200400"/>
            <a:ext cx="9601200" cy="1280160"/>
          </a:xfrm>
          <a:prstGeom prst="rect">
            <a:avLst/>
          </a:prstGeom>
          <a:noFill/>
        </p:spPr>
        <p:txBody>
          <a:bodyPr wrap="square" anchor="t" lIns="0" rIns="0" tIns="0" bIns="0">
            <a:spAutoFit/>
          </a:bodyPr>
          <a:lstStyle/>
          <a:p>
            <a:pPr algn="l">
              <a:lnSpc>
                <a:spcPct val="140000"/>
              </a:lnSpc>
            </a:pPr>
            <a:r>
              <a:rPr sz="1700" b="0">
                <a:solidFill>
                  <a:srgbClr val="5D5D60"/>
                </a:solidFill>
                <a:latin typeface="Figtree"/>
              </a:rPr>
              <a:t>Everything the product observes is published as a standard event. Your own systems can subscribe to the same signals and build on them without touching anything here.</a:t>
            </a:r>
          </a:p>
        </p:txBody>
      </p:sp>
      <p:sp>
        <p:nvSpPr>
          <p:cNvPr id="6" name="Rounded Rectangle 5"/>
          <p:cNvSpPr/>
          <p:nvPr/>
        </p:nvSpPr>
        <p:spPr>
          <a:xfrm>
            <a:off x="822960" y="4754880"/>
            <a:ext cx="1316736" cy="566928"/>
          </a:xfrm>
          <a:prstGeom prst="roundRect">
            <a:avLst>
              <a:gd name="adj" fmla="val 50000"/>
            </a:avLst>
          </a:prstGeom>
          <a:solidFill>
            <a:srgbClr val="FFFFFF"/>
          </a:solidFill>
          <a:ln w="12700">
            <a:solidFill>
              <a:srgbClr val="007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754880"/>
            <a:ext cx="1316736" cy="566928"/>
          </a:xfrm>
          <a:prstGeom prst="rect">
            <a:avLst/>
          </a:prstGeom>
          <a:noFill/>
        </p:spPr>
        <p:txBody>
          <a:bodyPr wrap="square" anchor="ctr" lIns="0" rIns="0" tIns="0" bIns="0">
            <a:spAutoFit/>
          </a:bodyPr>
          <a:lstStyle/>
          <a:p>
            <a:pPr algn="ctr"/>
            <a:r>
              <a:rPr sz="1500" b="1">
                <a:solidFill>
                  <a:srgbClr val="00684E"/>
                </a:solidFill>
                <a:latin typeface="Barlow Condensed"/>
              </a:rPr>
              <a:t>Service desk</a:t>
            </a:r>
          </a:p>
        </p:txBody>
      </p:sp>
      <p:sp>
        <p:nvSpPr>
          <p:cNvPr id="8" name="Rounded Rectangle 7"/>
          <p:cNvSpPr/>
          <p:nvPr/>
        </p:nvSpPr>
        <p:spPr>
          <a:xfrm>
            <a:off x="2414016" y="4754880"/>
            <a:ext cx="1860804" cy="566928"/>
          </a:xfrm>
          <a:prstGeom prst="roundRect">
            <a:avLst>
              <a:gd name="adj" fmla="val 50000"/>
            </a:avLst>
          </a:prstGeom>
          <a:solidFill>
            <a:srgbClr val="FFFFFF"/>
          </a:solidFill>
          <a:ln w="12700">
            <a:solidFill>
              <a:srgbClr val="007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14016" y="4754880"/>
            <a:ext cx="1860804" cy="566928"/>
          </a:xfrm>
          <a:prstGeom prst="rect">
            <a:avLst/>
          </a:prstGeom>
          <a:noFill/>
        </p:spPr>
        <p:txBody>
          <a:bodyPr wrap="square" anchor="ctr" lIns="0" rIns="0" tIns="0" bIns="0">
            <a:spAutoFit/>
          </a:bodyPr>
          <a:lstStyle/>
          <a:p>
            <a:pPr algn="ctr"/>
            <a:r>
              <a:rPr sz="1500" b="1">
                <a:solidFill>
                  <a:srgbClr val="00684E"/>
                </a:solidFill>
                <a:latin typeface="Barlow Condensed"/>
              </a:rPr>
              <a:t>Joiner-mover-leaver</a:t>
            </a:r>
          </a:p>
        </p:txBody>
      </p:sp>
      <p:sp>
        <p:nvSpPr>
          <p:cNvPr id="10" name="Rounded Rectangle 9"/>
          <p:cNvSpPr/>
          <p:nvPr/>
        </p:nvSpPr>
        <p:spPr>
          <a:xfrm>
            <a:off x="4549140" y="4754880"/>
            <a:ext cx="694944" cy="566928"/>
          </a:xfrm>
          <a:prstGeom prst="roundRect">
            <a:avLst>
              <a:gd name="adj" fmla="val 50000"/>
            </a:avLst>
          </a:prstGeom>
          <a:solidFill>
            <a:srgbClr val="FFFFFF"/>
          </a:solidFill>
          <a:ln w="12700">
            <a:solidFill>
              <a:srgbClr val="007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9140" y="4754880"/>
            <a:ext cx="694944" cy="566928"/>
          </a:xfrm>
          <a:prstGeom prst="rect">
            <a:avLst/>
          </a:prstGeom>
          <a:noFill/>
        </p:spPr>
        <p:txBody>
          <a:bodyPr wrap="square" anchor="ctr" lIns="0" rIns="0" tIns="0" bIns="0">
            <a:spAutoFit/>
          </a:bodyPr>
          <a:lstStyle/>
          <a:p>
            <a:pPr algn="ctr"/>
            <a:r>
              <a:rPr sz="1500" b="1">
                <a:solidFill>
                  <a:srgbClr val="00684E"/>
                </a:solidFill>
                <a:latin typeface="Barlow Condensed"/>
              </a:rPr>
              <a:t>SIEM</a:t>
            </a:r>
          </a:p>
        </p:txBody>
      </p:sp>
      <p:sp>
        <p:nvSpPr>
          <p:cNvPr id="12" name="Rounded Rectangle 11"/>
          <p:cNvSpPr/>
          <p:nvPr/>
        </p:nvSpPr>
        <p:spPr>
          <a:xfrm>
            <a:off x="5518404" y="4754880"/>
            <a:ext cx="1783080" cy="566928"/>
          </a:xfrm>
          <a:prstGeom prst="roundRect">
            <a:avLst>
              <a:gd name="adj" fmla="val 50000"/>
            </a:avLst>
          </a:prstGeom>
          <a:solidFill>
            <a:srgbClr val="FFFFFF"/>
          </a:solidFill>
          <a:ln w="12700">
            <a:solidFill>
              <a:srgbClr val="007A5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18404" y="4754880"/>
            <a:ext cx="1783080" cy="566928"/>
          </a:xfrm>
          <a:prstGeom prst="rect">
            <a:avLst/>
          </a:prstGeom>
          <a:noFill/>
        </p:spPr>
        <p:txBody>
          <a:bodyPr wrap="square" anchor="ctr" lIns="0" rIns="0" tIns="0" bIns="0">
            <a:spAutoFit/>
          </a:bodyPr>
          <a:lstStyle/>
          <a:p>
            <a:pPr algn="ctr"/>
            <a:r>
              <a:rPr sz="1500" b="1">
                <a:solidFill>
                  <a:srgbClr val="00684E"/>
                </a:solidFill>
                <a:latin typeface="Barlow Condensed"/>
              </a:rPr>
              <a:t>Your own reporting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2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rot="2700000">
            <a:off x="11368735" y="685800"/>
            <a:ext cx="822960" cy="822960"/>
          </a:xfrm>
          <a:prstGeom prst="rect">
            <a:avLst/>
          </a:prstGeom>
          <a:solidFill>
            <a:srgbClr val="0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rot="2700000">
            <a:off x="10362895" y="6309360"/>
            <a:ext cx="685800" cy="685800"/>
          </a:xfrm>
          <a:prstGeom prst="rect">
            <a:avLst/>
          </a:prstGeom>
          <a:solidFill>
            <a:srgbClr val="9F4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640080"/>
            <a:ext cx="457200" cy="355600"/>
          </a:xfrm>
          <a:prstGeom prst="roundRect">
            <a:avLst>
              <a:gd name="adj" fmla="val 25000"/>
            </a:avLst>
          </a:prstGeom>
          <a:solidFill>
            <a:srgbClr val="5658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822960" y="995680"/>
            <a:ext cx="101600" cy="101600"/>
          </a:xfrm>
          <a:custGeom>
            <a:avLst/>
            <a:gdLst/>
            <a:ahLst/>
            <a:cxnLst/>
            <a:rect l="l" t="t" r="r" b="b"/>
            <a:pathLst>
              <a:path w="101600" h="101600">
                <a:moveTo>
                  <a:pt x="0" y="0"/>
                </a:moveTo>
                <a:lnTo>
                  <a:pt x="101600" y="0"/>
                </a:lnTo>
                <a:lnTo>
                  <a:pt x="0" y="101600"/>
                </a:lnTo>
                <a:close/>
              </a:path>
            </a:pathLst>
          </a:custGeom>
          <a:solidFill>
            <a:srgbClr val="5658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24560" y="767080"/>
            <a:ext cx="88900" cy="88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76960" y="767080"/>
            <a:ext cx="88900" cy="88900"/>
          </a:xfrm>
          <a:prstGeom prst="rect">
            <a:avLst/>
          </a:prstGeom>
          <a:solidFill>
            <a:srgbClr val="7FE0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26464" y="621792"/>
            <a:ext cx="6400800" cy="457200"/>
          </a:xfrm>
          <a:prstGeom prst="rect">
            <a:avLst/>
          </a:prstGeom>
          <a:noFill/>
        </p:spPr>
        <p:txBody>
          <a:bodyPr wrap="square" anchor="t" lIns="0" rIns="0" tIns="0" bIns="0">
            <a:spAutoFit/>
          </a:bodyPr>
          <a:lstStyle/>
          <a:p>
            <a:pPr algn="l"/>
            <a:r>
              <a:rPr sz="1700" b="1">
                <a:solidFill>
                  <a:srgbClr val="FFFFFF"/>
                </a:solidFill>
                <a:latin typeface="Barlow Condensed"/>
              </a:rPr>
              <a:t>Governance </a:t>
            </a:r>
            <a:r>
              <a:rPr sz="1700" b="0">
                <a:solidFill>
                  <a:srgbClr val="C8CBE8"/>
                </a:solidFill>
                <a:latin typeface="Barlow Condensed"/>
              </a:rPr>
              <a:t>for Microsoft 365</a:t>
            </a:r>
          </a:p>
        </p:txBody>
      </p:sp>
      <p:sp>
        <p:nvSpPr>
          <p:cNvPr id="10" name="TextBox 9"/>
          <p:cNvSpPr txBox="1"/>
          <p:nvPr/>
        </p:nvSpPr>
        <p:spPr>
          <a:xfrm>
            <a:off x="822960" y="2377440"/>
            <a:ext cx="9692640" cy="1828800"/>
          </a:xfrm>
          <a:prstGeom prst="rect">
            <a:avLst/>
          </a:prstGeom>
          <a:noFill/>
        </p:spPr>
        <p:txBody>
          <a:bodyPr wrap="square" anchor="t" lIns="0" rIns="0" tIns="0" bIns="0">
            <a:spAutoFit/>
          </a:bodyPr>
          <a:lstStyle/>
          <a:p>
            <a:pPr algn="l">
              <a:lnSpc>
                <a:spcPct val="102000"/>
              </a:lnSpc>
            </a:pPr>
            <a:r>
              <a:rPr sz="4200" b="1">
                <a:solidFill>
                  <a:srgbClr val="FFFFFF"/>
                </a:solidFill>
                <a:latin typeface="Barlow Condensed"/>
              </a:rPr>
              <a:t>Make every share someone's responsibility — </a:t>
            </a:r>
            <a:r>
              <a:rPr sz="4200" b="1">
                <a:solidFill>
                  <a:srgbClr val="7FE0C7"/>
                </a:solidFill>
                <a:latin typeface="Barlow Condensed"/>
              </a:rPr>
              <a:t>starting with the next one.</a:t>
            </a:r>
          </a:p>
        </p:txBody>
      </p:sp>
      <p:sp>
        <p:nvSpPr>
          <p:cNvPr id="11" name="Rounded Rectangle 10"/>
          <p:cNvSpPr/>
          <p:nvPr/>
        </p:nvSpPr>
        <p:spPr>
          <a:xfrm>
            <a:off x="822960" y="4572000"/>
            <a:ext cx="3017520" cy="685800"/>
          </a:xfrm>
          <a:prstGeom prst="roundRect">
            <a:avLst>
              <a:gd name="adj" fmla="val 50000"/>
            </a:avLst>
          </a:prstGeom>
          <a:solidFill>
            <a:srgbClr val="00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572000"/>
            <a:ext cx="3017520" cy="685800"/>
          </a:xfrm>
          <a:prstGeom prst="rect">
            <a:avLst/>
          </a:prstGeom>
          <a:noFill/>
        </p:spPr>
        <p:txBody>
          <a:bodyPr wrap="square" anchor="ctr" lIns="0" rIns="0" tIns="0" bIns="0">
            <a:spAutoFit/>
          </a:bodyPr>
          <a:lstStyle/>
          <a:p>
            <a:pPr algn="ctr"/>
            <a:r>
              <a:rPr sz="1700" b="1">
                <a:solidFill>
                  <a:srgbClr val="FFFFFF"/>
                </a:solidFill>
                <a:latin typeface="Barlow Condensed"/>
                <a:hlinkClick r:id="rId2"/>
              </a:rPr>
              <a:t>Contact Anders Dissing</a:t>
            </a:r>
          </a:p>
        </p:txBody>
      </p:sp>
      <p:sp>
        <p:nvSpPr>
          <p:cNvPr id="13" name="TextBox 12"/>
          <p:cNvSpPr txBox="1"/>
          <p:nvPr/>
        </p:nvSpPr>
        <p:spPr>
          <a:xfrm>
            <a:off x="4114800" y="4572000"/>
            <a:ext cx="5486400" cy="685800"/>
          </a:xfrm>
          <a:prstGeom prst="rect">
            <a:avLst/>
          </a:prstGeom>
          <a:noFill/>
        </p:spPr>
        <p:txBody>
          <a:bodyPr wrap="square" anchor="ctr" lIns="0" rIns="0" tIns="0" bIns="0">
            <a:spAutoFit/>
          </a:bodyPr>
          <a:lstStyle/>
          <a:p>
            <a:pPr algn="l"/>
            <a:r>
              <a:rPr sz="1600" b="0">
                <a:solidFill>
                  <a:srgbClr val="7FE0C7"/>
                </a:solidFill>
                <a:latin typeface="Figtree"/>
                <a:hlinkClick r:id="rId2"/>
              </a:rPr>
              <a:t>dissing@sharepointkonsulenterne.dk</a:t>
            </a:r>
          </a:p>
        </p:txBody>
      </p:sp>
      <p:sp>
        <p:nvSpPr>
          <p:cNvPr id="14" name="TextBox 13"/>
          <p:cNvSpPr txBox="1"/>
          <p:nvPr/>
        </p:nvSpPr>
        <p:spPr>
          <a:xfrm>
            <a:off x="822960" y="6217920"/>
            <a:ext cx="10515600" cy="365760"/>
          </a:xfrm>
          <a:prstGeom prst="rect">
            <a:avLst/>
          </a:prstGeom>
          <a:noFill/>
        </p:spPr>
        <p:txBody>
          <a:bodyPr wrap="square" anchor="t" lIns="0" rIns="0" tIns="0" bIns="0">
            <a:spAutoFit/>
          </a:bodyPr>
          <a:lstStyle/>
          <a:p>
            <a:pPr algn="l"/>
            <a:r>
              <a:rPr sz="1050" b="0">
                <a:solidFill>
                  <a:srgbClr val="C8CBE8"/>
                </a:solidFill>
                <a:latin typeface="Figtree"/>
              </a:rPr>
              <a:t>Screenshots use demo data. External addresses are invented.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